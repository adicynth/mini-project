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26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7315200" cy="9601200"/>
  <p:embeddedFontLst>
    <p:embeddedFont>
      <p:font typeface="Fira Sans" panose="020B05030500000200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5C02DE2-A2C0-4507-BCD4-DAEB6ABDADE4}">
          <p14:sldIdLst>
            <p14:sldId id="265"/>
            <p14:sldId id="266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Untitled Section" id="{0C69837B-286A-4AEA-BD0C-4E3CC1784C9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9AH6ZeYHp9bKvIjB5YalirXNt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6" autoAdjust="0"/>
  </p:normalViewPr>
  <p:slideViewPr>
    <p:cSldViewPr snapToGrid="0">
      <p:cViewPr varScale="1">
        <p:scale>
          <a:sx n="90" d="100"/>
          <a:sy n="90" d="100"/>
        </p:scale>
        <p:origin x="82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-2826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53A7B-5579-482D-A846-AE72C94FF7AE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7DFAF-DE4C-4AD7-AD2B-F1C889BE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639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686180" y="376518"/>
            <a:ext cx="7935779" cy="446442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76115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11698941" y="6492875"/>
            <a:ext cx="493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idx="3"/>
          </p:nvPr>
        </p:nvSpPr>
        <p:spPr>
          <a:xfrm>
            <a:off x="1564239" y="6514141"/>
            <a:ext cx="932788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Fira Sans" charset="0"/>
              </a:rPr>
              <a:t>2nd International Conference on Technologies for Energy Agriculture and Healthcare (ICTEAH 2025)</a:t>
            </a:r>
            <a:endParaRPr lang="en-IN" sz="1600" dirty="0">
              <a:solidFill>
                <a:schemeClr val="bg1"/>
              </a:solidFill>
              <a:latin typeface="Fira Sans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/>
        </p:nvSpPr>
        <p:spPr>
          <a:xfrm>
            <a:off x="1531257" y="294320"/>
            <a:ext cx="9129486" cy="7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/>
          <p:cNvGrpSpPr/>
          <p:nvPr userDrawn="1"/>
        </p:nvGrpSpPr>
        <p:grpSpPr>
          <a:xfrm>
            <a:off x="-26951" y="6332341"/>
            <a:ext cx="12218951" cy="551964"/>
            <a:chOff x="-26951" y="6332341"/>
            <a:chExt cx="12218951" cy="551964"/>
          </a:xfrm>
        </p:grpSpPr>
        <p:pic>
          <p:nvPicPr>
            <p:cNvPr id="11" name="Google Shape;11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5897008" y="589313"/>
              <a:ext cx="385984" cy="1220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4564844" y="1740546"/>
              <a:ext cx="176409" cy="936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" name="Google Shape;17;p4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06462" y="220820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;p5"/>
          <p:cNvSpPr txBox="1">
            <a:spLocks noGrp="1"/>
          </p:cNvSpPr>
          <p:nvPr>
            <p:ph type="sldNum" idx="4"/>
          </p:nvPr>
        </p:nvSpPr>
        <p:spPr>
          <a:xfrm>
            <a:off x="11490734" y="6519180"/>
            <a:ext cx="722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idx="3"/>
          </p:nvPr>
        </p:nvSpPr>
        <p:spPr>
          <a:xfrm>
            <a:off x="1564239" y="6514141"/>
            <a:ext cx="932788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Fira Sans" charset="0"/>
              </a:rPr>
              <a:t>2nd International Conference on Technologies for Energy Agriculture and Healthcare (ICTEAH 2025)</a:t>
            </a:r>
            <a:endParaRPr lang="en-IN" sz="1600" dirty="0">
              <a:solidFill>
                <a:schemeClr val="bg1"/>
              </a:solidFill>
              <a:latin typeface="Fira Sans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2" y="260407"/>
            <a:ext cx="1982116" cy="64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9509760" cy="6583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BE1F33"/>
                </a:solidFill>
                <a:latin typeface="Aptos"/>
              </a:rPr>
              <a:t>FOODBRIDGE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886968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2C2C2C"/>
                </a:solidFill>
                <a:latin typeface="Aptos"/>
              </a:rPr>
              <a:t>A Geo-Routed Surplus Food Redistribution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761488"/>
            <a:ext cx="758952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585858"/>
                </a:solidFill>
                <a:latin typeface="Aptos"/>
              </a:rPr>
              <a:t>WPL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18688"/>
            <a:ext cx="8046720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C2C2C"/>
                </a:solidFill>
                <a:latin typeface="Aptos"/>
              </a:rPr>
              <a:t>K. J. Somaiya College of Engineering, Mumbai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3627" y="3675887"/>
            <a:ext cx="2556982" cy="326243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dirty="0">
                <a:solidFill>
                  <a:srgbClr val="585858"/>
                </a:solidFill>
                <a:latin typeface="Aptos"/>
              </a:rPr>
              <a:t>  Prepared by: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BE1F33"/>
                </a:solidFill>
                <a:latin typeface="Aptos"/>
              </a:rPr>
              <a:t>1.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05840"/>
            <a:ext cx="1051560" cy="36576"/>
          </a:xfrm>
          <a:prstGeom prst="rect">
            <a:avLst/>
          </a:prstGeom>
          <a:solidFill>
            <a:srgbClr val="EF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85858"/>
                </a:solidFill>
                <a:latin typeface="Aptos"/>
              </a:rPr>
              <a:t>Why surplus food needs a digital 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74920" cy="342900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90572"/>
            <a:ext cx="481888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BE1F33"/>
                </a:solidFill>
                <a:latin typeface="Aptos"/>
              </a:rPr>
              <a:t>Current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1" y="2947676"/>
            <a:ext cx="4818887" cy="7340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350" dirty="0">
                <a:solidFill>
                  <a:srgbClr val="2C2C2C"/>
                </a:solidFill>
                <a:latin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0749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9660" y="2290572"/>
            <a:ext cx="481888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BE1F33"/>
                </a:solidFill>
                <a:latin typeface="Aptos"/>
              </a:rPr>
              <a:t>Operational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9660" y="2871216"/>
            <a:ext cx="4818888" cy="28986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2C2C2C"/>
                </a:solidFill>
                <a:latin typeface="Aptos"/>
              </a:rPr>
              <a:t>• No real-time visibility of nearby receivers
• Pickup windows are time-sensitive
• Manual coordination causes delays
• Little traceability for food rescued and ESG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0058400" cy="51206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088135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2. Proposed Solution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05840"/>
            <a:ext cx="1051560" cy="36576"/>
          </a:xfrm>
          <a:prstGeom prst="rect">
            <a:avLst/>
          </a:prstGeom>
          <a:solidFill>
            <a:srgbClr val="EF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13333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 err="1">
                <a:solidFill>
                  <a:srgbClr val="585858"/>
                </a:solidFill>
                <a:latin typeface="Aptos"/>
              </a:rPr>
              <a:t>FoodBridge</a:t>
            </a:r>
            <a:r>
              <a:rPr sz="1350" b="0" dirty="0">
                <a:solidFill>
                  <a:srgbClr val="585858"/>
                </a:solidFill>
                <a:latin typeface="Aptos"/>
              </a:rPr>
              <a:t> connects surplus, location and accountability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1908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22376" y="2235708"/>
            <a:ext cx="189280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583180"/>
            <a:ext cx="1892808" cy="8869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C2C2C"/>
                </a:solidFill>
                <a:latin typeface="Aptos"/>
              </a:rPr>
              <a:t>Lists surplus
food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857500"/>
            <a:ext cx="320040" cy="0"/>
          </a:xfrm>
          <a:prstGeom prst="line">
            <a:avLst/>
          </a:prstGeom>
          <a:ln w="2540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40" y="2052828"/>
            <a:ext cx="2148840" cy="141732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91256" y="2235708"/>
            <a:ext cx="189280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FOODBRIDGE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2583180"/>
            <a:ext cx="1892808" cy="8869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C2C2C"/>
                </a:solidFill>
                <a:latin typeface="Aptos"/>
              </a:rPr>
              <a:t>Matches nearby
eligible receivers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2857500"/>
            <a:ext cx="320040" cy="0"/>
          </a:xfrm>
          <a:prstGeom prst="line">
            <a:avLst/>
          </a:prstGeom>
          <a:ln w="2540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32120" y="2068830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0136" y="2235708"/>
            <a:ext cx="189280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NGO / FOOD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0136" y="2583180"/>
            <a:ext cx="1892808" cy="8869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C2C2C"/>
                </a:solidFill>
                <a:latin typeface="Aptos"/>
              </a:rPr>
              <a:t>Claims and
collects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80960" y="2857500"/>
            <a:ext cx="320040" cy="0"/>
          </a:xfrm>
          <a:prstGeom prst="line">
            <a:avLst/>
          </a:prstGeom>
          <a:ln w="2540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2048416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9016" y="2235708"/>
            <a:ext cx="189280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583180"/>
            <a:ext cx="1892808" cy="8869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C2C2C"/>
                </a:solidFill>
                <a:latin typeface="Aptos"/>
              </a:rPr>
              <a:t>Records rescued
food &amp;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2011680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E1F33"/>
                </a:solidFill>
                <a:latin typeface="Aptos"/>
              </a:rPr>
              <a:t>Key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10058400" cy="1508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50">
                <a:solidFill>
                  <a:srgbClr val="2C2C2C"/>
                </a:solidFill>
                <a:latin typeface="Aptos"/>
              </a:defRPr>
            </a:pPr>
            <a:r>
              <a:t>•  Reduce edible food sent to landfill.</a:t>
            </a:r>
          </a:p>
          <a:p>
            <a:pPr>
              <a:spcAft>
                <a:spcPts val="700"/>
              </a:spcAft>
              <a:defRPr sz="1650">
                <a:solidFill>
                  <a:srgbClr val="2C2C2C"/>
                </a:solidFill>
                <a:latin typeface="Aptos"/>
              </a:defRPr>
            </a:pPr>
            <a:r>
              <a:t>•  Use location-aware discovery to minimize pickup distance.</a:t>
            </a:r>
          </a:p>
          <a:p>
            <a:pPr>
              <a:spcAft>
                <a:spcPts val="700"/>
              </a:spcAft>
              <a:defRPr sz="1650">
                <a:solidFill>
                  <a:srgbClr val="2C2C2C"/>
                </a:solidFill>
                <a:latin typeface="Aptos"/>
              </a:defRPr>
            </a:pPr>
            <a:r>
              <a:t>•  Enforce pickup windows for perishable inventory.</a:t>
            </a:r>
          </a:p>
          <a:p>
            <a:pPr>
              <a:spcAft>
                <a:spcPts val="700"/>
              </a:spcAft>
              <a:defRPr sz="1650">
                <a:solidFill>
                  <a:srgbClr val="2C2C2C"/>
                </a:solidFill>
                <a:latin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11896" y="4224528"/>
            <a:ext cx="13258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467344" y="4279391"/>
            <a:ext cx="10698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SDG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4626864"/>
            <a:ext cx="1069848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2C2C2C"/>
                </a:solidFill>
                <a:latin typeface="Aptos"/>
              </a:rPr>
              <a:t>Responsible
Consumption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4224528"/>
            <a:ext cx="13258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0384" y="4279391"/>
            <a:ext cx="10698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SDG 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626864"/>
            <a:ext cx="1069848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2C2C2C"/>
                </a:solidFill>
                <a:latin typeface="Aptos"/>
              </a:rPr>
              <a:t>Climate
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325882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BE1F33"/>
                </a:solidFill>
                <a:latin typeface="Aptos"/>
              </a:rPr>
              <a:t>3. Target Users &amp; End-to-End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826535"/>
            <a:ext cx="1051560" cy="45719"/>
          </a:xfrm>
          <a:prstGeom prst="rect">
            <a:avLst/>
          </a:prstGeom>
          <a:solidFill>
            <a:srgbClr val="EF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9385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585858"/>
                </a:solidFill>
                <a:latin typeface="Aptos"/>
              </a:rPr>
              <a:t>Three roles, one traceable redistribution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13433"/>
            <a:ext cx="3246120" cy="114300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404873"/>
            <a:ext cx="29900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DONOR / 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52345"/>
            <a:ext cx="2918566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300" dirty="0">
                <a:solidFill>
                  <a:srgbClr val="2C2C2C"/>
                </a:solidFill>
                <a:latin typeface="Aptos"/>
              </a:rPr>
              <a:t>Restaurant, bakery, caterer or grocery business</a:t>
            </a:r>
          </a:p>
          <a:p>
            <a:pPr algn="l">
              <a:lnSpc>
                <a:spcPct val="100000"/>
              </a:lnSpc>
            </a:pPr>
            <a:endParaRPr sz="1300" b="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42232" y="2313433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270248" y="2404873"/>
            <a:ext cx="29900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RECEIVER / 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7" y="2752345"/>
            <a:ext cx="3026663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300" dirty="0">
                <a:solidFill>
                  <a:srgbClr val="2C2C2C"/>
                </a:solidFill>
                <a:latin typeface="Aptos"/>
              </a:rPr>
              <a:t>Verified food bank or community organization</a:t>
            </a:r>
          </a:p>
          <a:p>
            <a:pPr algn="l">
              <a:lnSpc>
                <a:spcPct val="100000"/>
              </a:lnSpc>
            </a:pPr>
            <a:endParaRPr sz="1300" b="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52944" y="2313433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2404873"/>
            <a:ext cx="29900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52345"/>
            <a:ext cx="2990087" cy="6126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Vets NGOs and monitors platform health</a:t>
            </a:r>
          </a:p>
        </p:txBody>
      </p:sp>
      <p:sp>
        <p:nvSpPr>
          <p:cNvPr id="17" name="Oval 16"/>
          <p:cNvSpPr/>
          <p:nvPr/>
        </p:nvSpPr>
        <p:spPr>
          <a:xfrm>
            <a:off x="1335024" y="3995928"/>
            <a:ext cx="457200" cy="45720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35024" y="4069080"/>
            <a:ext cx="45720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90288"/>
            <a:ext cx="1645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2C2C2C"/>
                </a:solidFill>
                <a:latin typeface="Aptos"/>
              </a:rPr>
              <a:t>List surplus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28616"/>
            <a:ext cx="1847088" cy="5943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Item + quantity + pickup window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40864" y="4215384"/>
            <a:ext cx="438912" cy="0"/>
          </a:xfrm>
          <a:prstGeom prst="line">
            <a:avLst/>
          </a:prstGeom>
          <a:ln w="2032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547872" y="3995928"/>
            <a:ext cx="457200" cy="45720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47872" y="4069080"/>
            <a:ext cx="45720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4590288"/>
            <a:ext cx="1645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C2C2C"/>
                </a:solidFill>
                <a:latin typeface="Aptos"/>
              </a:rPr>
              <a:t>Geo-match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6" y="4928616"/>
            <a:ext cx="1847088" cy="5943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Nearby eligible receivers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53712" y="4215384"/>
            <a:ext cx="438912" cy="0"/>
          </a:xfrm>
          <a:prstGeom prst="line">
            <a:avLst/>
          </a:prstGeom>
          <a:ln w="2032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760720" y="3995928"/>
            <a:ext cx="457200" cy="45720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4069080"/>
            <a:ext cx="45720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4590288"/>
            <a:ext cx="1645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C2C2C"/>
                </a:solidFill>
                <a:latin typeface="Aptos"/>
              </a:rPr>
              <a:t>Claim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4928616"/>
            <a:ext cx="1847088" cy="5943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NGO reserves the listing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66560" y="4215384"/>
            <a:ext cx="438912" cy="0"/>
          </a:xfrm>
          <a:prstGeom prst="line">
            <a:avLst/>
          </a:prstGeom>
          <a:ln w="2032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973568" y="3995928"/>
            <a:ext cx="457200" cy="45720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73568" y="4069080"/>
            <a:ext cx="45720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590288"/>
            <a:ext cx="1645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C2C2C"/>
                </a:solidFill>
                <a:latin typeface="Aptos"/>
              </a:rPr>
              <a:t>Pickup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1" y="4928616"/>
            <a:ext cx="1847088" cy="5943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Collect before expiry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79408" y="4215384"/>
            <a:ext cx="438911" cy="0"/>
          </a:xfrm>
          <a:prstGeom prst="line">
            <a:avLst/>
          </a:prstGeom>
          <a:ln w="2032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186415" y="3995928"/>
            <a:ext cx="457200" cy="45720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86415" y="4069080"/>
            <a:ext cx="45720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199" y="4590288"/>
            <a:ext cx="1645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C2C2C"/>
                </a:solidFill>
                <a:latin typeface="Aptos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1" y="4928616"/>
            <a:ext cx="1847088" cy="5943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585858"/>
                </a:solidFill>
                <a:latin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42416" y="1329247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4. Features of the Designed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2416" y="1819654"/>
            <a:ext cx="1051560" cy="36576"/>
          </a:xfrm>
          <a:prstGeom prst="rect">
            <a:avLst/>
          </a:prstGeom>
          <a:solidFill>
            <a:srgbClr val="EF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1184" y="1843596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585858"/>
                </a:solidFill>
                <a:latin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6" y="2129347"/>
            <a:ext cx="2971800" cy="150876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220787"/>
            <a:ext cx="27157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Dynamic Geo-Routing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568258"/>
            <a:ext cx="2770632" cy="6555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180">
                <a:solidFill>
                  <a:srgbClr val="2C2C2C"/>
                </a:solidFill>
                <a:latin typeface="Aptos"/>
              </a:rPr>
              <a:t>MongoDB 2dsphere indexes and proximity queries surface nearby food listings to receivers.</a:t>
            </a:r>
            <a:endParaRPr lang="en-US" sz="118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2129347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2129347"/>
            <a:ext cx="2715768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BE1F33"/>
                </a:solidFill>
                <a:latin typeface="Aptos"/>
              </a:rPr>
              <a:t>Perishable Inventory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68258"/>
            <a:ext cx="2770632" cy="8371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180" dirty="0">
                <a:solidFill>
                  <a:srgbClr val="2C2C2C"/>
                </a:solidFill>
                <a:latin typeface="Aptos"/>
              </a:rPr>
              <a:t>Pickup start/end timestamps control availability and expired listings drop out of the active flow.</a:t>
            </a:r>
          </a:p>
          <a:p>
            <a:pPr algn="l">
              <a:lnSpc>
                <a:spcPct val="100000"/>
              </a:lnSpc>
            </a:pPr>
            <a:endParaRPr sz="1180" b="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99248" y="2129347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27264" y="2220787"/>
            <a:ext cx="27157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Donor Quick 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3" y="2568259"/>
            <a:ext cx="2778217" cy="6555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180" dirty="0">
                <a:solidFill>
                  <a:srgbClr val="2C2C2C"/>
                </a:solidFill>
                <a:latin typeface="Aptos"/>
              </a:rPr>
              <a:t>Fast listing flow for businesses: item, quantity and pickup window.</a:t>
            </a:r>
          </a:p>
          <a:p>
            <a:pPr algn="l">
              <a:lnSpc>
                <a:spcPct val="100000"/>
              </a:lnSpc>
            </a:pPr>
            <a:endParaRPr sz="1180" b="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42416" y="4003867"/>
            <a:ext cx="2971800" cy="150876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4095307"/>
            <a:ext cx="27157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Receiver Map &amp;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442778"/>
            <a:ext cx="2770632" cy="6555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180" dirty="0">
                <a:solidFill>
                  <a:srgbClr val="2C2C2C"/>
                </a:solidFill>
                <a:latin typeface="Aptos"/>
              </a:rPr>
              <a:t>NGOs discover local surplus, inspect listing details and claim food for pickup.</a:t>
            </a:r>
          </a:p>
          <a:p>
            <a:pPr algn="l">
              <a:lnSpc>
                <a:spcPct val="100000"/>
              </a:lnSpc>
            </a:pPr>
            <a:endParaRPr sz="1180" b="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70832" y="4003867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4095307"/>
            <a:ext cx="27157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Pickup Lifecycle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442779"/>
            <a:ext cx="2770632" cy="6555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180" dirty="0">
                <a:solidFill>
                  <a:srgbClr val="2C2C2C"/>
                </a:solidFill>
                <a:latin typeface="Aptos"/>
              </a:rPr>
              <a:t>Claimed → Picked Up state makes collection progress traceable.</a:t>
            </a:r>
          </a:p>
          <a:p>
            <a:pPr algn="l">
              <a:lnSpc>
                <a:spcPct val="100000"/>
              </a:lnSpc>
            </a:pPr>
            <a:endParaRPr sz="1180" b="0" dirty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99248" y="4003867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27264" y="4095307"/>
            <a:ext cx="27157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Audit &amp; ESG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4" y="4442779"/>
            <a:ext cx="2778216" cy="6555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180" dirty="0">
                <a:solidFill>
                  <a:srgbClr val="2C2C2C"/>
                </a:solidFill>
                <a:latin typeface="Aptos"/>
              </a:rPr>
              <a:t>Claims and completed pickups feed food-saved and sustainability metrics.</a:t>
            </a:r>
          </a:p>
          <a:p>
            <a:pPr algn="l">
              <a:lnSpc>
                <a:spcPct val="100000"/>
              </a:lnSpc>
            </a:pPr>
            <a:endParaRPr sz="1180" b="0" dirty="0">
              <a:solidFill>
                <a:srgbClr val="2C2C2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6509" y="1211580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5.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696212"/>
            <a:ext cx="1051560" cy="36576"/>
          </a:xfrm>
          <a:prstGeom prst="rect">
            <a:avLst/>
          </a:prstGeom>
          <a:solidFill>
            <a:srgbClr val="EF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711629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585858"/>
                </a:solidFill>
                <a:latin typeface="Aptos"/>
              </a:rPr>
              <a:t>Layered web architecture with MongoDB geospatial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600" y="2164257"/>
            <a:ext cx="2331720" cy="109728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2616" y="2255697"/>
            <a:ext cx="20756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616" y="2603169"/>
            <a:ext cx="2075687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Next.js + React
Tailwind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2352" y="2164257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0368" y="2255697"/>
            <a:ext cx="20756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368" y="2603169"/>
            <a:ext cx="2075687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Node.js + Express
JWT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0104" y="2164257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8119" y="2255697"/>
            <a:ext cx="20756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8119" y="2603169"/>
            <a:ext cx="2075687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MongoDB + Mongoose
Users, listings,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7856" y="2164257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5872" y="2255697"/>
            <a:ext cx="20756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SPECIALIZED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5872" y="2603169"/>
            <a:ext cx="2075687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React Leaflet
Chart.js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06320" y="2712897"/>
            <a:ext cx="256032" cy="0"/>
          </a:xfrm>
          <a:prstGeom prst="line">
            <a:avLst/>
          </a:prstGeom>
          <a:ln w="2540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94072" y="2712897"/>
            <a:ext cx="256032" cy="0"/>
          </a:xfrm>
          <a:prstGeom prst="line">
            <a:avLst/>
          </a:prstGeom>
          <a:ln w="2540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81823" y="2712897"/>
            <a:ext cx="256033" cy="0"/>
          </a:xfrm>
          <a:prstGeom prst="line">
            <a:avLst/>
          </a:prstGeom>
          <a:ln w="2540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512997"/>
            <a:ext cx="228600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E1F33"/>
                </a:solidFill>
                <a:latin typeface="Aptos"/>
              </a:rPr>
              <a:t>Geospatial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4015917"/>
            <a:ext cx="2057400" cy="1078992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4107357"/>
            <a:ext cx="18013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E1F33"/>
                </a:solidFill>
                <a:latin typeface="Aptos"/>
              </a:rPr>
              <a:t>Donor 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454829"/>
            <a:ext cx="1801368" cy="5486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C2C2C"/>
                </a:solidFill>
                <a:latin typeface="Aptos"/>
              </a:rPr>
              <a:t>GeoJSON point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61488" y="4555413"/>
            <a:ext cx="594360" cy="0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55848" y="4015917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83864" y="4107357"/>
            <a:ext cx="18013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E1F33"/>
                </a:solidFill>
                <a:latin typeface="Aptos"/>
              </a:rPr>
              <a:t>2dsphere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3864" y="4454829"/>
            <a:ext cx="1801368" cy="5486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C2C2C"/>
                </a:solidFill>
                <a:latin typeface="Aptos"/>
              </a:rPr>
              <a:t>Indexed spatial lookup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13248" y="4555413"/>
            <a:ext cx="594360" cy="0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007608" y="4015917"/>
            <a:ext cx="2057400" cy="1078992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35624" y="4107357"/>
            <a:ext cx="18013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E1F33"/>
                </a:solidFill>
                <a:latin typeface="Aptos"/>
              </a:rPr>
              <a:t>$geoNear / proximity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4454829"/>
            <a:ext cx="1801368" cy="5486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C2C2C"/>
                </a:solidFill>
                <a:latin typeface="Aptos"/>
              </a:rPr>
              <a:t>Nearest eligible listings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65008" y="4555413"/>
            <a:ext cx="594360" cy="0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59368" y="4015917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87384" y="4107357"/>
            <a:ext cx="18013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E1F33"/>
                </a:solidFill>
                <a:latin typeface="Aptos"/>
              </a:rPr>
              <a:t>Receiver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4454829"/>
            <a:ext cx="1801368" cy="5486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C2C2C"/>
                </a:solidFill>
                <a:latin typeface="Aptos"/>
              </a:rPr>
              <a:t>Distance + pickup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524677"/>
            <a:ext cx="9875520" cy="3657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C2C2C"/>
                </a:solidFill>
                <a:latin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6. Donor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0180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585858"/>
                </a:solidFill>
                <a:latin typeface="Aptos"/>
              </a:rPr>
              <a:t>Businesses can publish surplus inventory before closing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92808"/>
            <a:ext cx="2011680" cy="621792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984248"/>
            <a:ext cx="17556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BE1F33"/>
                </a:solidFill>
                <a:latin typeface="Aptos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1755648" cy="914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2C2C"/>
                </a:solidFill>
                <a:latin typeface="Aptos"/>
              </a:rPr>
              <a:t>Business enters donor account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5648" y="2514600"/>
            <a:ext cx="0" cy="219456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2734056"/>
            <a:ext cx="2011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825496"/>
            <a:ext cx="17556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BE1F33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72968"/>
            <a:ext cx="1755648" cy="914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2C2C"/>
                </a:solidFill>
                <a:latin typeface="Aptos"/>
              </a:rPr>
              <a:t>Views active listings and impact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3355848"/>
            <a:ext cx="0" cy="219456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3575304"/>
            <a:ext cx="2011680" cy="621792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666744"/>
            <a:ext cx="17556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BE1F33"/>
                </a:solidFill>
                <a:latin typeface="Aptos"/>
              </a:rPr>
              <a:t>QUICK 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014216"/>
            <a:ext cx="1755648" cy="914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2C2C"/>
                </a:solidFill>
                <a:latin typeface="Aptos"/>
              </a:rPr>
              <a:t>Select item + quantity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55648" y="4197096"/>
            <a:ext cx="0" cy="219456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4416552"/>
            <a:ext cx="2011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17556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BE1F33"/>
                </a:solidFill>
                <a:latin typeface="Aptos"/>
              </a:rPr>
              <a:t>PICKUP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855464"/>
            <a:ext cx="1755648" cy="914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2C2C"/>
                </a:solidFill>
                <a:latin typeface="Aptos"/>
              </a:rPr>
              <a:t>Choose start and end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55648" y="5038344"/>
            <a:ext cx="0" cy="219456"/>
          </a:xfrm>
          <a:prstGeom prst="line">
            <a:avLst/>
          </a:prstGeom>
          <a:ln w="17780">
            <a:solidFill>
              <a:srgbClr val="BE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8" y="5257800"/>
            <a:ext cx="2011680" cy="621792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5349240"/>
            <a:ext cx="17556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BE1F33"/>
                </a:solidFill>
                <a:latin typeface="Aptos"/>
              </a:rPr>
              <a:t>PUBLISH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696712"/>
            <a:ext cx="1755648" cy="914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2C2C"/>
                </a:solidFill>
                <a:latin typeface="Aptos"/>
              </a:rPr>
              <a:t>Listing becomes available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4408" y="1892808"/>
            <a:ext cx="73609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92424" y="1984248"/>
            <a:ext cx="710488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What the donor can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2414016"/>
            <a:ext cx="6858000" cy="20574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Food saved and active listing metrics.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A quick-add workflow designed for a busy closing shift.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Listing status: Available / Claimed / Picked Up.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Pickup window shown clearly to receivers.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5" y="4818888"/>
            <a:ext cx="6857999" cy="8263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550" b="1" dirty="0">
                <a:solidFill>
                  <a:srgbClr val="BE1F33"/>
                </a:solidFill>
                <a:latin typeface="Aptos"/>
              </a:rPr>
              <a:t>Primary demonstration: create a surplus listing in a few steps and immediately make it discoverable.</a:t>
            </a:r>
          </a:p>
          <a:p>
            <a:pPr algn="l">
              <a:lnSpc>
                <a:spcPct val="100000"/>
              </a:lnSpc>
            </a:pPr>
            <a:endParaRPr sz="1550" b="1" dirty="0">
              <a:solidFill>
                <a:srgbClr val="BE1F3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648" y="996696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7. Receiver Workflow &amp; Location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8415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585858"/>
                </a:solidFill>
                <a:latin typeface="Aptos"/>
              </a:rPr>
              <a:t>NGOs use the nearby-food map to decide what to collect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42463"/>
            <a:ext cx="4937760" cy="3840480"/>
          </a:xfrm>
          <a:prstGeom prst="rect">
            <a:avLst/>
          </a:prstGeom>
          <a:solidFill>
            <a:srgbClr val="EEF3F5"/>
          </a:solidFill>
          <a:ln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907055"/>
            <a:ext cx="914400" cy="29260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E1F33"/>
                </a:solidFill>
                <a:latin typeface="Aptos"/>
              </a:rPr>
              <a:t>LIVE MAP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2355111"/>
            <a:ext cx="4526280" cy="137160"/>
          </a:xfrm>
          <a:prstGeom prst="line">
            <a:avLst/>
          </a:prstGeom>
          <a:ln w="15240">
            <a:solidFill>
              <a:srgbClr val="B4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" y="3132351"/>
            <a:ext cx="4526280" cy="137160"/>
          </a:xfrm>
          <a:prstGeom prst="line">
            <a:avLst/>
          </a:prstGeom>
          <a:ln w="15240">
            <a:solidFill>
              <a:srgbClr val="B4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" y="3909591"/>
            <a:ext cx="4526280" cy="137160"/>
          </a:xfrm>
          <a:prstGeom prst="line">
            <a:avLst/>
          </a:prstGeom>
          <a:ln w="15240">
            <a:solidFill>
              <a:srgbClr val="B4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" y="4686831"/>
            <a:ext cx="4526280" cy="137160"/>
          </a:xfrm>
          <a:prstGeom prst="line">
            <a:avLst/>
          </a:prstGeom>
          <a:ln w="15240">
            <a:solidFill>
              <a:srgbClr val="B4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325880" y="2172230"/>
            <a:ext cx="137160" cy="3200401"/>
          </a:xfrm>
          <a:prstGeom prst="line">
            <a:avLst/>
          </a:prstGeom>
          <a:ln w="15240">
            <a:solidFill>
              <a:srgbClr val="BEC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468880" y="2172230"/>
            <a:ext cx="137160" cy="3200401"/>
          </a:xfrm>
          <a:prstGeom prst="line">
            <a:avLst/>
          </a:prstGeom>
          <a:ln w="15240">
            <a:solidFill>
              <a:srgbClr val="BEC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657600" y="2172230"/>
            <a:ext cx="137160" cy="3200401"/>
          </a:xfrm>
          <a:prstGeom prst="line">
            <a:avLst/>
          </a:prstGeom>
          <a:ln w="15240">
            <a:solidFill>
              <a:srgbClr val="BEC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526279" y="2172230"/>
            <a:ext cx="137161" cy="3200401"/>
          </a:xfrm>
          <a:prstGeom prst="line">
            <a:avLst/>
          </a:prstGeom>
          <a:ln w="15240">
            <a:solidFill>
              <a:srgbClr val="BEC6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463040" y="2766591"/>
            <a:ext cx="320040" cy="32004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2784879"/>
            <a:ext cx="32004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3108960" y="4046750"/>
            <a:ext cx="320040" cy="32004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4065038"/>
            <a:ext cx="32004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0" y="2949471"/>
            <a:ext cx="320040" cy="320040"/>
          </a:xfrm>
          <a:prstGeom prst="ellipse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2967759"/>
            <a:ext cx="32004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016015"/>
            <a:ext cx="109728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39C6F"/>
                </a:solidFill>
                <a:latin typeface="Aptos"/>
              </a:rPr>
              <a:t>Receiver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1742463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25896" y="1833903"/>
            <a:ext cx="445312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Nearby listing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896" y="2181375"/>
            <a:ext cx="4453128" cy="52120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C2C2C"/>
                </a:solidFill>
                <a:latin typeface="Aptos"/>
              </a:rPr>
              <a:t>FreshBakes Bakery • 50 Croissants • 1.8 km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976903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25896" y="3068343"/>
            <a:ext cx="445312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Pickup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25896" y="3415815"/>
            <a:ext cx="4453128" cy="52120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C2C2C"/>
                </a:solidFill>
                <a:latin typeface="Aptos"/>
              </a:rPr>
              <a:t>19:00–21:00 • 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4211343"/>
            <a:ext cx="4709160" cy="105156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25896" y="4302783"/>
            <a:ext cx="445312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E1F33"/>
                </a:solidFill>
                <a:latin typeface="Aptos"/>
              </a:rP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5896" y="4650255"/>
            <a:ext cx="4453128" cy="52120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C2C2C"/>
                </a:solidFill>
                <a:latin typeface="Aptos"/>
              </a:rPr>
              <a:t>View details → Claim → Pick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5428142"/>
            <a:ext cx="5922335" cy="7017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280" b="1" dirty="0">
                <a:solidFill>
                  <a:srgbClr val="BE1F33"/>
                </a:solidFill>
                <a:latin typeface="Aptos"/>
              </a:rPr>
              <a:t>The platform tells the NGO what is available and where it is; the claim/pickup lifecycle then records completion.</a:t>
            </a:r>
          </a:p>
          <a:p>
            <a:pPr algn="l">
              <a:lnSpc>
                <a:spcPct val="100000"/>
              </a:lnSpc>
            </a:pPr>
            <a:endParaRPr sz="1280" b="1" dirty="0">
              <a:solidFill>
                <a:srgbClr val="BE1F3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1207007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BE1F33"/>
                </a:solidFill>
                <a:latin typeface="Aptos"/>
              </a:rPr>
              <a:t>8. Admin &amp; ESG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91055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85858"/>
                </a:solidFill>
                <a:latin typeface="Aptos"/>
              </a:rPr>
              <a:t>Platform oversight plus measurable sustainability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84390"/>
            <a:ext cx="50749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075830"/>
            <a:ext cx="481888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Admin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87310"/>
            <a:ext cx="4526280" cy="22402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Review pending NGO applications.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Verify food-safety documentation.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Monitor active listings and claims.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Track platform-wide food rescued.</a:t>
            </a:r>
          </a:p>
          <a:p>
            <a:pPr>
              <a:spcAft>
                <a:spcPts val="700"/>
              </a:spcAft>
              <a:defRPr sz="1500">
                <a:solidFill>
                  <a:srgbClr val="2C2C2C"/>
                </a:solidFill>
                <a:latin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984390"/>
            <a:ext cx="4572000" cy="356616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5" y="2075830"/>
            <a:ext cx="431596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ESG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53303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624470"/>
            <a:ext cx="1014984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BE1F33"/>
                </a:solidFill>
                <a:latin typeface="Aptos"/>
              </a:rPr>
              <a:t>1,284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35950"/>
            <a:ext cx="105156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Food rescued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253303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2624470"/>
            <a:ext cx="1014984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BE1F33"/>
                </a:solidFill>
                <a:latin typeface="Aptos"/>
              </a:rPr>
              <a:t>146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3035950"/>
            <a:ext cx="105156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Pickups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253303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2624470"/>
            <a:ext cx="1014984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BE1F33"/>
                </a:solidFill>
                <a:latin typeface="Aptos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035950"/>
            <a:ext cx="105156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85858"/>
                </a:solidFill>
                <a:latin typeface="Aptos"/>
              </a:rPr>
              <a:t>Verified NGOs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721750"/>
            <a:ext cx="384048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85858"/>
                </a:solidFill>
                <a:latin typeface="Aptos"/>
              </a:rPr>
              <a:t>Illustrative reporting dimensions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078366"/>
            <a:ext cx="13258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85858"/>
                </a:solidFill>
                <a:latin typeface="Aptos"/>
              </a:rPr>
              <a:t>Food rescued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096654"/>
            <a:ext cx="2331720" cy="182880"/>
          </a:xfrm>
          <a:prstGeom prst="rect">
            <a:avLst/>
          </a:prstGeom>
          <a:solidFill>
            <a:srgbClr val="E7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60" y="4096654"/>
            <a:ext cx="2145182" cy="182880"/>
          </a:xfrm>
          <a:prstGeom prst="rect">
            <a:avLst/>
          </a:prstGeom>
          <a:solidFill>
            <a:srgbClr val="BE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64224" y="4535566"/>
            <a:ext cx="13258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85858"/>
                </a:solidFill>
                <a:latin typeface="Aptos"/>
              </a:rPr>
              <a:t>CO₂ avoided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553853"/>
            <a:ext cx="2331720" cy="182880"/>
          </a:xfrm>
          <a:prstGeom prst="rect">
            <a:avLst/>
          </a:prstGeom>
          <a:solidFill>
            <a:srgbClr val="E7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4553853"/>
            <a:ext cx="1725472" cy="182880"/>
          </a:xfrm>
          <a:prstGeom prst="rect">
            <a:avLst/>
          </a:prstGeom>
          <a:solidFill>
            <a:srgbClr val="33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4224" y="4992766"/>
            <a:ext cx="13258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85858"/>
                </a:solidFill>
                <a:latin typeface="Aptos"/>
              </a:rPr>
              <a:t>Completed claims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5011053"/>
            <a:ext cx="2331720" cy="182880"/>
          </a:xfrm>
          <a:prstGeom prst="rect">
            <a:avLst/>
          </a:prstGeom>
          <a:solidFill>
            <a:srgbClr val="E7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80960" y="5011053"/>
            <a:ext cx="1538935" cy="182880"/>
          </a:xfrm>
          <a:prstGeom prst="rect">
            <a:avLst/>
          </a:prstGeom>
          <a:solidFill>
            <a:srgbClr val="25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3944" y="5632846"/>
            <a:ext cx="4362824" cy="6971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270" b="1" dirty="0">
                <a:solidFill>
                  <a:srgbClr val="BE1F33"/>
                </a:solidFill>
                <a:latin typeface="Aptos"/>
              </a:rPr>
              <a:t>Claims and completed pickups create the evidence trail behind impact reporting.</a:t>
            </a:r>
          </a:p>
          <a:p>
            <a:pPr algn="l">
              <a:lnSpc>
                <a:spcPct val="100000"/>
              </a:lnSpc>
            </a:pPr>
            <a:endParaRPr sz="1270" b="1" dirty="0">
              <a:solidFill>
                <a:srgbClr val="BE1F3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221043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9. Technology Stack &amp; 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8232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85858"/>
                </a:solidFill>
                <a:latin typeface="Aptos"/>
              </a:rPr>
              <a:t>Why the chosen stack fits 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36560"/>
            <a:ext cx="2926080" cy="114300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28000"/>
            <a:ext cx="26700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E1F33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75472"/>
            <a:ext cx="2670048" cy="6126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Next.js • React • Tailwind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03656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77055" y="2128000"/>
            <a:ext cx="267004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E1F33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5" y="2475472"/>
            <a:ext cx="2670048" cy="6126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C2C2C"/>
                </a:solidFill>
                <a:latin typeface="Aptos"/>
              </a:rPr>
              <a:t>Node.js • Express • 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20365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67728" y="2128000"/>
            <a:ext cx="321868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E1F33"/>
                </a:solidFill>
                <a:latin typeface="Aptos"/>
              </a:rPr>
              <a:t>Data &amp;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475472"/>
            <a:ext cx="3218687" cy="6126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C2C2C"/>
                </a:solidFill>
                <a:latin typeface="Aptos"/>
              </a:rPr>
              <a:t>MongoDB • Mongoose • Leaflet • Chart.js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53880"/>
            <a:ext cx="210312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E1F33"/>
                </a:solidFill>
                <a:latin typeface="Aptos"/>
              </a:rPr>
              <a:t>Core 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1080"/>
            <a:ext cx="2907792" cy="86868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" y="4002520"/>
            <a:ext cx="265176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349992"/>
            <a:ext cx="2651760" cy="3383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C2C2C"/>
                </a:solidFill>
                <a:latin typeface="Aptos"/>
              </a:rPr>
              <a:t>Donor / NGO / 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911080"/>
            <a:ext cx="29077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59935" y="4002520"/>
            <a:ext cx="265176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5" y="4349992"/>
            <a:ext cx="2651760" cy="3383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C2C2C"/>
                </a:solidFill>
                <a:latin typeface="Aptos"/>
              </a:rPr>
              <a:t>Food + quantity + pickup window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911080"/>
            <a:ext cx="2907792" cy="86868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06055" y="4002520"/>
            <a:ext cx="265176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55" y="4349992"/>
            <a:ext cx="2651760" cy="3383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C2C2C"/>
                </a:solidFill>
                <a:latin typeface="Aptos"/>
              </a:rPr>
              <a:t>Receiver + listing +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62640"/>
            <a:ext cx="29077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" y="5054080"/>
            <a:ext cx="265176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AuditLog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5401552"/>
            <a:ext cx="2651760" cy="3383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C2C2C"/>
                </a:solidFill>
                <a:latin typeface="Aptos"/>
              </a:rPr>
              <a:t>Traceability of key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4962640"/>
            <a:ext cx="2907792" cy="86868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59935" y="5054080"/>
            <a:ext cx="265176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E1F33"/>
                </a:solidFill>
                <a:latin typeface="Aptos"/>
              </a:rPr>
              <a:t>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9935" y="5401552"/>
            <a:ext cx="2651760" cy="3383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dirty="0">
                <a:solidFill>
                  <a:srgbClr val="2C2C2C"/>
                </a:solidFill>
                <a:latin typeface="Aptos"/>
              </a:rPr>
              <a:t>Food classification</a:t>
            </a:r>
          </a:p>
        </p:txBody>
      </p:sp>
      <p:sp>
        <p:nvSpPr>
          <p:cNvPr id="3" name="Rounded Rectangle 29">
            <a:extLst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/>
          <p:nvPr/>
        </p:nvSpPr>
        <p:spPr>
          <a:xfrm>
            <a:off x="7144514" y="4958387"/>
            <a:ext cx="2907792" cy="86868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BE1F33"/>
                </a:solidFill>
                <a:latin typeface="Aptos"/>
              </a:rPr>
              <a:t>MongoDB geospatial layer</a:t>
            </a:r>
          </a:p>
          <a:p>
            <a:pPr algn="ctr"/>
            <a:r>
              <a:rPr lang="en-US" sz="1060" dirty="0">
                <a:solidFill>
                  <a:srgbClr val="2C2C2C"/>
                </a:solidFill>
                <a:latin typeface="Aptos"/>
                <a:cs typeface="Arial"/>
              </a:rPr>
              <a:t>2dsphere index → proximity query → nearby receiver discovery</a:t>
            </a: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10. Result &amp;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93" y="1427367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585858"/>
                </a:solidFill>
                <a:latin typeface="Aptos"/>
              </a:rPr>
              <a:t>Prototype verification against the required user journeys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961659"/>
              </p:ext>
            </p:extLst>
          </p:nvPr>
        </p:nvGraphicFramePr>
        <p:xfrm>
          <a:off x="743429" y="1766598"/>
          <a:ext cx="100584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Test case</a:t>
                      </a:r>
                    </a:p>
                  </a:txBody>
                  <a:tcPr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Expected behavior</a:t>
                      </a:r>
                    </a:p>
                  </a:txBody>
                  <a:tcPr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BE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Donor login + Quick Add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Listing can be entered and published with pickup window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Receiver map + listing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Nearby listings and details are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Claim workflow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Receiver can claim an available listing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Pickup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Claimed item moves to completed/picked-up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Admin + ESG reports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Verification and impact/report views load correctly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9733" y="5789958"/>
            <a:ext cx="9646920" cy="42062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BE1F33"/>
                </a:solidFill>
                <a:latin typeface="Aptos"/>
              </a:rPr>
              <a:t>Result: an end-to-end website prototype demonstrates the donor → routing → receiver → pickup → reporting lifecycle.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1042416"/>
            <a:ext cx="99669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BE1F33"/>
                </a:solidFill>
                <a:latin typeface="Aptos"/>
              </a:rPr>
              <a:t>11. Conclusion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8853"/>
            <a:ext cx="100584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85858"/>
                </a:solidFill>
                <a:latin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07181"/>
            <a:ext cx="5074920" cy="333756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898621"/>
            <a:ext cx="4818888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10100"/>
            <a:ext cx="4709160" cy="16076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lang="en-US" dirty="0">
                <a:solidFill>
                  <a:srgbClr val="2C2C2C"/>
                </a:solidFill>
                <a:latin typeface="Aptos"/>
              </a:rPr>
              <a:t>•  Makes surplus food visible before its pickup window expires.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lang="en-US" dirty="0">
                <a:solidFill>
                  <a:srgbClr val="2C2C2C"/>
                </a:solidFill>
                <a:latin typeface="Aptos"/>
              </a:rPr>
              <a:t>•  Uses location-aware discovery to reduce coordination friction.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lang="en-US" dirty="0">
                <a:solidFill>
                  <a:srgbClr val="2C2C2C"/>
                </a:solidFill>
                <a:latin typeface="Aptos"/>
              </a:rPr>
              <a:t>•  Provides role-based workflows for donors, receivers and admins.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lang="en-US" dirty="0">
                <a:solidFill>
                  <a:srgbClr val="2C2C2C"/>
                </a:solidFill>
                <a:latin typeface="Aptos"/>
              </a:rPr>
              <a:t>•  Tracks claims and pickups so impact can be reported.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lang="en-US" dirty="0">
                <a:solidFill>
                  <a:srgbClr val="2C2C2C"/>
                </a:solidFill>
                <a:latin typeface="Aptos"/>
              </a:rPr>
              <a:t>•  Creates a foundation for future alerts, optimization and scale.</a:t>
            </a:r>
          </a:p>
          <a:p>
            <a:pPr>
              <a:spcAft>
                <a:spcPts val="700"/>
              </a:spcAft>
              <a:defRPr sz="1440">
                <a:solidFill>
                  <a:srgbClr val="2C2C2C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989320" y="1807181"/>
            <a:ext cx="46634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17336" y="1898621"/>
            <a:ext cx="4407407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E1F33"/>
                </a:solidFill>
                <a:latin typeface="Aptos"/>
              </a:rP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64380"/>
            <a:ext cx="3844066" cy="183588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Somaiya WPL Mini Project Rubrics &amp; PPT Guidelines.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Next.js Documentation — nextjs.org/docs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MongoDB Documentation — mongodb.com/docs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Mongoose Documentation — mongoosejs.com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React Leaflet — react-leaflet.js.org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Chart.js Documentation — chartjs.org/docs</a:t>
            </a:r>
          </a:p>
          <a:p>
            <a:pPr>
              <a:spcAft>
                <a:spcPts val="700"/>
              </a:spcAft>
              <a:defRPr sz="1170">
                <a:solidFill>
                  <a:srgbClr val="2C2C2C"/>
                </a:solidFill>
                <a:latin typeface="Aptos"/>
              </a:defRPr>
            </a:pPr>
            <a:r>
              <a:rPr dirty="0"/>
              <a:t>•  UN Sustainable Development Goals — sdgs.un.org/goals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28789"/>
            <a:ext cx="969264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BE1F33"/>
                </a:solidFill>
                <a:latin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1068</Words>
  <Application>Microsoft Office PowerPoint</Application>
  <PresentationFormat>Widescreen</PresentationFormat>
  <Paragraphs>212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Aptos</vt:lpstr>
      <vt:lpstr>Fira Sans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Windows User</dc:creator>
  <cp:lastModifiedBy>Aditya Chaugala</cp:lastModifiedBy>
  <cp:revision>39</cp:revision>
  <dcterms:created xsi:type="dcterms:W3CDTF">2019-03-30T05:08:49Z</dcterms:created>
  <dcterms:modified xsi:type="dcterms:W3CDTF">2026-09-21T22:53:35Z</dcterms:modified>
</cp:coreProperties>
</file>