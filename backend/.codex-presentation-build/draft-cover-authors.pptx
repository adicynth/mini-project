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1ae9d84213478d" /><Relationship Type="http://schemas.openxmlformats.org/officeDocument/2006/relationships/extended-properties" Target="/docProps/app.xml" Id="R37458eb0ff3e42e5" /><Relationship Type="http://schemas.openxmlformats.org/officeDocument/2006/relationships/officeDocument" Target="/ppt/presentation.xml" Id="R5b85bf12d91c41ab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6eb6996599124047"/>
  </p:sldMasterIdLst>
  <p:notesMasterIdLst>
    <p:notesMasterId xmlns:r="http://schemas.openxmlformats.org/officeDocument/2006/relationships" r:id="Rc9289c8e69ec4e86"/>
  </p:notesMasterIdLst>
  <p:sldIdLst>
    <p:sldId xmlns:r="http://schemas.openxmlformats.org/officeDocument/2006/relationships" id="256" r:id="Ra19aa4239c5a4c7f"/>
    <p:sldId xmlns:r="http://schemas.openxmlformats.org/officeDocument/2006/relationships" id="257" r:id="Rf321cef24d9a4c32"/>
    <p:sldId xmlns:r="http://schemas.openxmlformats.org/officeDocument/2006/relationships" id="258" r:id="R9d36510cde2a45d2"/>
    <p:sldId xmlns:r="http://schemas.openxmlformats.org/officeDocument/2006/relationships" id="259" r:id="Re8bcace7c0f24f5d"/>
    <p:sldId xmlns:r="http://schemas.openxmlformats.org/officeDocument/2006/relationships" id="260" r:id="Rffcc69f28b504727"/>
    <p:sldId xmlns:r="http://schemas.openxmlformats.org/officeDocument/2006/relationships" id="261" r:id="Rfeafdebfefa14d51"/>
    <p:sldId xmlns:r="http://schemas.openxmlformats.org/officeDocument/2006/relationships" id="262" r:id="Rb8d07a6edf824196"/>
    <p:sldId xmlns:r="http://schemas.openxmlformats.org/officeDocument/2006/relationships" id="263" r:id="Re75324086e8f442d"/>
    <p:sldId xmlns:r="http://schemas.openxmlformats.org/officeDocument/2006/relationships" id="264" r:id="R1ebb4249ee6e49de"/>
    <p:sldId xmlns:r="http://schemas.openxmlformats.org/officeDocument/2006/relationships" id="265" r:id="Rfcc533540946421e"/>
    <p:sldId xmlns:r="http://schemas.openxmlformats.org/officeDocument/2006/relationships" id="266" r:id="Rc5a456b05f8b47e2"/>
    <p:sldId xmlns:r="http://schemas.openxmlformats.org/officeDocument/2006/relationships" id="267" r:id="R3f65d43435684ff6"/>
    <p:sldId xmlns:r="http://schemas.openxmlformats.org/officeDocument/2006/relationships" id="268" r:id="R7b7419b505014637"/>
  </p:sldIdLst>
  <p:sldSz cx="12192000" cy="6858000"/>
  <p:notesSz cx="6858000" cy="9144000"/>
  <p:embeddedFontLst>
    <p:embeddedFont>
      <p:font typeface="Fira Sans"/>
      <p:regular xmlns:r="http://schemas.openxmlformats.org/officeDocument/2006/relationships" r:id="Rda59a90c8df74701"/>
      <p:bold xmlns:r="http://schemas.openxmlformats.org/officeDocument/2006/relationships" r:id="R7fef933ca2c548d2"/>
      <p:italic xmlns:r="http://schemas.openxmlformats.org/officeDocument/2006/relationships" r:id="R133056eb97114fc0"/>
      <p:boldItalic xmlns:r="http://schemas.openxmlformats.org/officeDocument/2006/relationships" r:id="R319d8c7da7eb46ae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cc411be13a4e14" /><Relationship Type="http://schemas.openxmlformats.org/officeDocument/2006/relationships/slideMaster" Target="/ppt/slideMasters/slideMaster1.xml" Id="R6eb6996599124047" /><Relationship Type="http://schemas.openxmlformats.org/officeDocument/2006/relationships/notesMaster" Target="/ppt/notesMasters/notesMaster1.xml" Id="Rc9289c8e69ec4e86" /><Relationship Type="http://schemas.openxmlformats.org/officeDocument/2006/relationships/presProps" Target="/ppt/presProps.xml" Id="R050056d8d75e4b2f" /><Relationship Type="http://schemas.openxmlformats.org/officeDocument/2006/relationships/viewProps" Target="/ppt/viewProps.xml" Id="R08caae7319844494" /><Relationship Type="http://schemas.openxmlformats.org/officeDocument/2006/relationships/tableStyles" Target="/ppt/tableStyles.xml" Id="Re4f31c441ea54ff8" /><Relationship Type="http://schemas.openxmlformats.org/officeDocument/2006/relationships/font" Target="/ppt/fonts/font.dat" Id="Rda59a90c8df74701" /><Relationship Type="http://schemas.openxmlformats.org/officeDocument/2006/relationships/font" Target="/ppt/fonts/font2.dat" Id="R7fef933ca2c548d2" /><Relationship Type="http://schemas.openxmlformats.org/officeDocument/2006/relationships/font" Target="/ppt/fonts/font3.dat" Id="R133056eb97114fc0" /><Relationship Type="http://schemas.openxmlformats.org/officeDocument/2006/relationships/font" Target="/ppt/fonts/font4.dat" Id="R319d8c7da7eb46ae" /><Relationship Type="http://schemas.openxmlformats.org/officeDocument/2006/relationships/slide" Target="/ppt/slides/slide1.xml" Id="Ra19aa4239c5a4c7f" /><Relationship Type="http://schemas.openxmlformats.org/officeDocument/2006/relationships/slide" Target="/ppt/slides/slide2.xml" Id="Rf321cef24d9a4c32" /><Relationship Type="http://schemas.openxmlformats.org/officeDocument/2006/relationships/slide" Target="/ppt/slides/slide3.xml" Id="R9d36510cde2a45d2" /><Relationship Type="http://schemas.openxmlformats.org/officeDocument/2006/relationships/slide" Target="/ppt/slides/slide4.xml" Id="Re8bcace7c0f24f5d" /><Relationship Type="http://schemas.openxmlformats.org/officeDocument/2006/relationships/slide" Target="/ppt/slides/slide5.xml" Id="Rffcc69f28b504727" /><Relationship Type="http://schemas.openxmlformats.org/officeDocument/2006/relationships/slide" Target="/ppt/slides/slide6.xml" Id="Rfeafdebfefa14d51" /><Relationship Type="http://schemas.openxmlformats.org/officeDocument/2006/relationships/slide" Target="/ppt/slides/slide7.xml" Id="Rb8d07a6edf824196" /><Relationship Type="http://schemas.openxmlformats.org/officeDocument/2006/relationships/slide" Target="/ppt/slides/slide8.xml" Id="Re75324086e8f442d" /><Relationship Type="http://schemas.openxmlformats.org/officeDocument/2006/relationships/slide" Target="/ppt/slides/slide9.xml" Id="R1ebb4249ee6e49de" /><Relationship Type="http://schemas.openxmlformats.org/officeDocument/2006/relationships/slide" Target="/ppt/slides/slide10.xml" Id="Rfcc533540946421e" /><Relationship Type="http://schemas.openxmlformats.org/officeDocument/2006/relationships/slide" Target="/ppt/slides/slide11.xml" Id="Rc5a456b05f8b47e2" /><Relationship Type="http://schemas.openxmlformats.org/officeDocument/2006/relationships/slide" Target="/ppt/slides/slide12.xml" Id="R3f65d43435684ff6" /><Relationship Type="http://schemas.openxmlformats.org/officeDocument/2006/relationships/slide" Target="/ppt/slides/slide13.xml" Id="R7b7419b5050146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828a5509fa49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26818410a24d4e" /><Relationship Type="http://schemas.openxmlformats.org/officeDocument/2006/relationships/notesMaster" Target="/ppt/notesMasters/notesMaster1.xml" Id="R36493288532e46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bdbc4407134d00" /><Relationship Type="http://schemas.openxmlformats.org/officeDocument/2006/relationships/notesMaster" Target="/ppt/notesMasters/notesMaster1.xml" Id="R9f4336b7181742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8d7c8f6ae3423f" /><Relationship Type="http://schemas.openxmlformats.org/officeDocument/2006/relationships/notesMaster" Target="/ppt/notesMasters/notesMaster1.xml" Id="R54c7fc42a8b144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730cd77dc34629" /><Relationship Type="http://schemas.openxmlformats.org/officeDocument/2006/relationships/notesMaster" Target="/ppt/notesMasters/notesMaster1.xml" Id="R4c3e2cf3737f44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816eba28d34db4" /><Relationship Type="http://schemas.openxmlformats.org/officeDocument/2006/relationships/notesMaster" Target="/ppt/notesMasters/notesMaster1.xml" Id="R4eaed20412084b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8bdfb2d3bb4039" /><Relationship Type="http://schemas.openxmlformats.org/officeDocument/2006/relationships/notesMaster" Target="/ppt/notesMasters/notesMaster1.xml" Id="R95808354126b49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35e7b7111f4213" /><Relationship Type="http://schemas.openxmlformats.org/officeDocument/2006/relationships/notesMaster" Target="/ppt/notesMasters/notesMaster1.xml" Id="R5a1f888ccb6d49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e25331328a4cd7" /><Relationship Type="http://schemas.openxmlformats.org/officeDocument/2006/relationships/notesMaster" Target="/ppt/notesMasters/notesMaster1.xml" Id="Ra8ad9443bcf748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cb48d044e94e5a" /><Relationship Type="http://schemas.openxmlformats.org/officeDocument/2006/relationships/notesMaster" Target="/ppt/notesMasters/notesMaster1.xml" Id="Rac32c21b667449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26ea1c8f6e4cd1" /><Relationship Type="http://schemas.openxmlformats.org/officeDocument/2006/relationships/notesMaster" Target="/ppt/notesMasters/notesMaster1.xml" Id="R0fdaac5ab70f4b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a9d2e7179148e9" /><Relationship Type="http://schemas.openxmlformats.org/officeDocument/2006/relationships/notesMaster" Target="/ppt/notesMasters/notesMaster1.xml" Id="Ra9bd179c28584d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ecffe4a3b84dbf" /><Relationship Type="http://schemas.openxmlformats.org/officeDocument/2006/relationships/notesMaster" Target="/ppt/notesMasters/notesMaster1.xml" Id="R3aace491f25549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6526a0e7864e00" /><Relationship Type="http://schemas.openxmlformats.org/officeDocument/2006/relationships/notesMaster" Target="/ppt/notesMasters/notesMaster1.xml" Id="Re70a0279a6204a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IMPLEMENTATION — 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and visual system: the public homepage was refocused on surplus-food rescue and NGO/receiver audiences in India. Credited community/NGO and food photography, a new warm palette, Bootstrap 5 responsive grid utilities and clearer calls to action replace the earlier visual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Frontend journeys: Next.js App Router pages use shared authentication state and role-aware navigation for donor, receiver and admin roles. The API client reads NEXT_PUBLIC_API_URL (default http://localhost:5000/api) and attaches JWT Bearer tokens. Donor flows create listings; receiver flows discover and claim surplus; admin flows support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 integration: Express mounts health, auth, listings, claims, admin and reports route families. Authentication verifies JWTs, and requireRole guards role-specific actions. Mongoose persists users, listings, claims, categories and audit logs. The health endpoint is /api/health.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Location and pickup: listings store GeoJSON Point coordinates as [longitude, latitude] and use a 2dsphere index. Nearby discovery uses MongoDB $geoNear rather than arithmetic distance. Receiver results are represented in both the list and Leaflet map. Listing details use a scrollable modal layered above the map. Claiming is atomic; pickup completion records an audit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and design delivery: completed pickup weight feeds reports using 1 kg of rescued food = 2.5 kg CO₂e avoided (meal equivalent: 2 meals/kg). The existing FoodBridge Figma file/page was updated; recent polish corrected bullet alignment, organization initials, form labels and palette swatches, and added prototype 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demo: MongoDB is expected at mongodb://127.0.0.1:27017/foodbridge. Start the backend with npm run dev from backend, then start the frontend with npm run dev from frontend; defaults are API port 5000 and web port 3000. Open the frontend on the laptop after confirming /api/health. Phone/LAN access has not been verified and requires matching network reachability, firewall access and a LAN-reachable API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note: statuses describe implemented UI/routes, not a claim that every service was running during this deck update. The API depends on MongoDB at mongodb://127.0.0.1:27017/foodbridge. Check http://localhost:5000/api/health, run the backend from backend with npm run dev, then the frontend from frontend with npm run dev. The browser should use the laptop's frontend at http://localhost:3000. Phone/LAN access is still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6aecd636f4cb9" /></Relationships>
</file>

<file path=ppt/slideLayouts/slideLayout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14594ECF-3AA0-475C-B94D-F033E5C13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744EFE02-0508-4F6D-8E02-AB31CCE31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0780C126-B1B2-4AA6-971B-A62F0E253F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98941" y="6492875"/>
            <a:ext cx="4930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7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E5049A5-C474-48F0-9273-02CD95640C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94a678f674849b0" /><Relationship Type="http://schemas.openxmlformats.org/officeDocument/2006/relationships/image" Target="/ppt/media/image2.png" Id="Rf2d4aee567074c81" /><Relationship Type="http://schemas.openxmlformats.org/officeDocument/2006/relationships/image" Target="/ppt/media/image3.png" Id="R2b2ab545a0654f65" /><Relationship Type="http://schemas.openxmlformats.org/officeDocument/2006/relationships/image" Target="/ppt/media/image4.png" Id="R2e877f56eaaf4318" /><Relationship Type="http://schemas.openxmlformats.org/officeDocument/2006/relationships/theme" Target="/ppt/slideMasters/theme/theme2.xml" Id="Red0fcbdc65f24209" /><Relationship Type="http://schemas.openxmlformats.org/officeDocument/2006/relationships/slideLayout" Target="/ppt/slideLayouts/slideLayout1.xml" Id="Rd7fb8c91b0ee428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DDE5F0E1-6940-42AA-B1DB-C1924A6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57" y="294320"/>
            <a:ext cx="9129486" cy="73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F8E427C9-ADF4-48F5-8A4C-14F9A4057E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4a678f674849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5897008" y="589313"/>
            <a:ext cx="385984" cy="1220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F38EA103-70A5-4379-B47D-4A2867D02B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d4aee567074c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4564844" y="1740546"/>
            <a:ext cx="176409" cy="9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F5357005-5AAA-41D9-8AD2-E94914DC02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2ab545a0654f6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06462" y="220820"/>
            <a:ext cx="968545" cy="721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82E2635-6F5D-48EF-AF0B-851322054A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90734" y="6519180"/>
            <a:ext cx="72244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7C29FCE-A171-4BC2-9F10-EF76C3EFE8B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3ACAAEA-2D9A-4EED-8594-D19D18902B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77f56eaaf4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152" y="260407"/>
            <a:ext cx="1982116" cy="6480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b8c91b0ee4281"/>
  </p:sldLayoutIdLst>
  <p:hf hd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f8e3ae42343de" /><Relationship Type="http://schemas.openxmlformats.org/officeDocument/2006/relationships/notesSlide" Target="/ppt/notesSlides/notesSlide1.xml" Id="R0585f2b28dd545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6e314102c41bd" /><Relationship Type="http://schemas.openxmlformats.org/officeDocument/2006/relationships/notesSlide" Target="/ppt/notesSlides/notesSlide2.xml" Id="Rdaf051d3de98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7d67e366b4e5b" /><Relationship Type="http://schemas.openxmlformats.org/officeDocument/2006/relationships/notesSlide" Target="/ppt/notesSlides/notesSlide3.xml" Id="Raf4d5f04933948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c010adfd9430b" /><Relationship Type="http://schemas.openxmlformats.org/officeDocument/2006/relationships/notesSlide" Target="/ppt/notesSlides/notesSlide4.xml" Id="Rdec97016831c42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6a6855d404ba8" /><Relationship Type="http://schemas.openxmlformats.org/officeDocument/2006/relationships/notesSlide" Target="/ppt/notesSlides/notesSlide5.xml" Id="Rc5377739823d47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ce8af44a2437c" /><Relationship Type="http://schemas.openxmlformats.org/officeDocument/2006/relationships/notesSlide" Target="/ppt/notesSlides/notesSlide6.xml" Id="Rd486b5aa0a0f4b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1b50eb1784420" /><Relationship Type="http://schemas.openxmlformats.org/officeDocument/2006/relationships/notesSlide" Target="/ppt/notesSlides/notesSlide7.xml" Id="R64b66b6432e44c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bbab622634382" /><Relationship Type="http://schemas.openxmlformats.org/officeDocument/2006/relationships/notesSlide" Target="/ppt/notesSlides/notesSlide8.xml" Id="Ra1f28ed3b9d240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c936ffa6e43d4" /><Relationship Type="http://schemas.openxmlformats.org/officeDocument/2006/relationships/notesSlide" Target="/ppt/notesSlides/notesSlide9.xml" Id="R9046b7942ad943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35cddc9dc47f2" /><Relationship Type="http://schemas.openxmlformats.org/officeDocument/2006/relationships/notesSlide" Target="/ppt/notesSlides/notesSlide10.xml" Id="R31a250b4cb1149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0a23d4d3c4784" /><Relationship Type="http://schemas.openxmlformats.org/officeDocument/2006/relationships/notesSlide" Target="/ppt/notesSlides/notesSlide11.xml" Id="Rc4bd89a4fbbe41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b4960adf84e39" /><Relationship Type="http://schemas.openxmlformats.org/officeDocument/2006/relationships/hyperlink" Target="https://github.com/AdiCynth/Mini-Project.git" TargetMode="External" Id="R83cbe78cdaff4671" /><Relationship Type="http://schemas.openxmlformats.org/officeDocument/2006/relationships/notesSlide" Target="/ppt/notesSlides/notesSlide12.xml" Id="R8e67420118a347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7c75153a64835" /><Relationship Type="http://schemas.openxmlformats.org/officeDocument/2006/relationships/notesSlide" Target="/ppt/notesSlides/notesSlide13.xml" Id="Rc8818b4faf2c45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4A7B884-994C-4AD5-BFE8-6E4E61DD1E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023175A-3EB7-4685-A0C4-8562A684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9509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4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5B953F-4A97-4CAF-914B-85C0E91D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8840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A Geo-Routed Surplus Food Redistribution Platform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CFA7F0-1742-47FB-A50D-86CA2436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761488"/>
            <a:ext cx="7589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WPL Mini Project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AE0755-CE38-4B7C-A770-7F2F6A2C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18688"/>
            <a:ext cx="8046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K. J. Somaiya College of Engineering, Mumbai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8F9001-0EC5-4B4D-A6C2-F6FA3D49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75888"/>
            <a:ext cx="2641790" cy="963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t>Prepared by: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>16014024010 : Aarya Chandra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>16014024011 : Rudra Chaplot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>16014024012 : Aditya Chaugala</a:t>
            </a:r>
          </a:p>
        </p:txBody>
      </p:sp>
    </p:spTree>
    <p:extLst>
      <p:ext uri="{BB962C8B-B14F-4D97-AF65-F5344CB8AC3E}">
        <p14:creationId xmlns:p14="http://schemas.microsoft.com/office/powerpoint/2010/main" val="54889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2C36062-7FC8-488E-8CAC-DFB27B8391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777522D-F0C5-44A1-8F20-4CF9E38F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1. Problem Statement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CD252A7-0F2D-4D0A-981E-1A2FCB52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32204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surplus food needs a digital bridge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7B679B7-3E9B-4909-AC84-0497EE26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8513739-321F-4D8F-82FC-0184517A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Current challenge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BC9ED0-9EF4-41F5-A3A3-F4A98EC2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1" y="3411226"/>
            <a:ext cx="4818887" cy="7340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2C2C2C"/>
                </a:solidFill>
                <a:latin typeface="Aptos"/>
                <a:ea typeface="Aptos"/>
                <a:cs typeface="Aptos"/>
              </a:rPr>
              <a:t>Mid-sized food businesses often generate safe, edible surplus near closing time. Without a fast receiver network, the cost and effort of redistribution can exceed the value of the food.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748F450-6B86-48FD-B3BD-79362218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46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C5C8D3-6075-4531-829A-F693218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Operational gaps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3E01CFD-760C-491F-BC3D-182F3C01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3334766"/>
            <a:ext cx="4818888" cy="2898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No real-time visibility of nearby receivers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Pickup windows are time-sensitive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Manual coordination causes delays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Little traceability for food rescued and ESG reporting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FDE7A6C-AA3F-48A8-BF0E-3F42384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5721350"/>
            <a:ext cx="100584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problem: good food is available locally, but the right receiver is not connected to it quickly enough.</a:t>
            </a:r>
          </a:p>
        </p:txBody>
      </p:sp>
    </p:spTree>
    <p:extLst>
      <p:ext uri="{BB962C8B-B14F-4D97-AF65-F5344CB8AC3E}">
        <p14:creationId xmlns:p14="http://schemas.microsoft.com/office/powerpoint/2010/main" val="6517111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22C56C-F889-DED5-9C5A-7A061E486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300A9EE-6E65-4129-9245-8B87921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88135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2. Proposed Solution &amp; Objectives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82EF56-F5B9-46E5-B23A-452CC205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1333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</a:t>
            </a: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connects surplus, location and accountability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08E91DA-185E-4743-B5EB-B8BCCEAE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190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8E5EADC-4353-4D3D-AE26-6EDFCAC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FB8961-82D6-4EB2-ACF6-6D19814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Lists surplus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825537F-9FAE-43E7-99A0-D9E613C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F6A408F-C3AE-412C-AC30-F6FF81F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5282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C0E632-136A-4282-8346-3F5B3C6D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720915-820F-4540-B32C-16E8DF77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Matches nearby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eligible receivers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76E41BF9-8EC6-4D9B-94FC-8DDE7CD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9DEE59F-EFFA-4383-B814-5A6D1A43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68830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81CB6E-35A2-4FEC-844E-C4F4667A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NGO / FOOD BANK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09E424-B497-4735-8ECC-5332A56B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collects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C444FC54-B097-4553-ABBA-19A55BE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464DD1D-400F-4615-AB72-6B12432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416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0299907-C707-42C9-BC04-61B825A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B65814-241A-48E7-A3EC-9A9BA05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Records rescued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&amp; metrics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D852282-8D5A-4CFD-AEE3-9D515F9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Key objectives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9701E5C-008B-43C6-903A-E4A5C86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96512"/>
            <a:ext cx="100584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Reduce edible food sent to landfill.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Use location-aware discovery to minimize pickup distance.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Enforce pickup windows for perishable inventory.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claims, pickups and food saved for ESG reporting.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DE903FF-DF72-4602-A0C0-E7ADCCD1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5DE4C83-9B6D-407D-9783-DBCCEAE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12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4B63657-9C95-45EF-BE2F-A4F434D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Responsible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Consumption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7EF4F53-FD17-4B03-8FBD-D400F3C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6D6F55E-CA7D-4988-BAE8-0BAA9F20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B5BFA0F-9B3B-4099-98CF-C9AE3D72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Climate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1924915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E03235-F7C6-AAE7-EE88-005EA614B6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A7E2A-9B8D-42EB-8F92-5BD53D9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2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3. Target Users &amp; End-to-End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C0AF19-D602-4ABB-9A2C-68679B5E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938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Three roles, one traceable redistribution lifecycle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4AA7583-0A15-4986-A8CB-6464E2E9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804BFF-EDA0-4E7C-9285-08965A6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/ SME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299D5E-1977-43DA-8B66-D2E1D228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52345"/>
            <a:ext cx="2918566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Restaurant, bakery, caterer or grocery business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C200197-70F8-4FA9-93AD-3B1BB83E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948B059-6042-4A69-8A78-C01563E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/ NGO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32765D3-EF89-45AB-B2BD-4F717B1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7" y="2752345"/>
            <a:ext cx="3026663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Verified food bank or community organization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7143EF-148C-4848-AE59-D60BB433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B68177D-E4AA-4427-83B2-2A2B02A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CDFB4C-C76B-4251-82A2-16504E9F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52345"/>
            <a:ext cx="29900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Vets NGOs and monitors platform health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4409D1E-BD55-433F-A1F9-EAF7E21E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B193CA-F058-4C7F-8057-7125347B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F664C0A-2EF7-4D18-AD5F-10DAFB3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 surplus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C8E90F4-FA72-4872-80A5-7F1D5753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Item + quantity + pickup window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52A81040-5B82-46B5-A3F0-8D0C5F07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07088DE-E72D-48B0-BE88-05ED24B9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9F1E2C8-31E3-4759-9D6D-A1E74FD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841C53B-4486-42B3-A453-F235192E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Geo-match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CD24A7E-D37A-40ED-81B4-D5BD1B1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Nearby eligible receivers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3F1BA52C-A5A1-418C-8A6F-44E9480E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F4BCACF-384F-4C1F-8974-F00D3184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D6EFA64-5B8C-4BE1-AD30-0CDEC1F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BF74811-89C1-45B2-A41F-7D52B37F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95ABEC5-4493-48BE-B423-17BFD5D9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 reserves the listing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B14B1E79-D856-42F6-B5BA-2A9499F9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4A356392-614F-4CCA-8B80-1647A45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DA9206A-E8B6-4179-B25A-7060C65D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1AEB107-8F2A-4091-8568-7E2998B6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9CA7CCF-3668-4D75-9EC2-28A88CFE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Collect before expiry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0B463D00-9779-444B-BEBA-E088783A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215384"/>
            <a:ext cx="438911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21063393-1B4E-4F16-B6A4-2153C5F5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F3AA120-D498-4304-B7E1-0852DB43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4D377AB-F945-4015-80AB-2F1F455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9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29249C3-4AB7-479E-A1FF-60949F5B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Update rescued-food metrics</a:t>
            </a:r>
          </a:p>
        </p:txBody>
      </p:sp>
    </p:spTree>
    <p:extLst>
      <p:ext uri="{BB962C8B-B14F-4D97-AF65-F5344CB8AC3E}">
        <p14:creationId xmlns:p14="http://schemas.microsoft.com/office/powerpoint/2010/main" val="913416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74E834C-4153-E3BF-C312-0C9B654668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9BB0962-3C35-4B5C-AD6A-4733900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32924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4. Features of the Designed System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BCB71F-870E-41B6-AF0A-27500E36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819654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048107-CF78-4DB0-B0E7-41B396DF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" y="1843596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Core functionality mapped directly to the project specification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2EADF90-5582-47F7-8D13-A9FE0AAF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5CBD84-BAC2-4FE6-924B-6AC7FD8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Dynamic Geo-Routing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2D99447-40C3-49E9-97F6-10B799C6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825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2dsphere indexes and proximity queries surface nearby food listings to receivers.</a:t>
            </a:r>
            <a:endParaRPr sz="118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803EDF6-0255-48DF-B1E4-9DD22522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38201C-A913-412C-A4BF-1FA4D01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29347"/>
            <a:ext cx="2715768" cy="603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Perishable Inventory Constraints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66D345D-2BB0-4D27-A8DD-E880DA9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8258"/>
            <a:ext cx="2770632" cy="837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 start/end timestamps control availability and expired listings drop out of the active flow.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845BF6D-7349-4A3D-88DB-5640A8D8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4FD275E-0850-4D3C-95B9-5EE5E94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Quick Add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C80179A-7997-40B8-A452-20D2C9B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3" y="2568259"/>
            <a:ext cx="2778217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Fast listing flow for businesses: item, quantity and pickup window.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69FB62D-1274-4A49-8488-57242C13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2B8B6FC-D165-4F2C-ACDE-666A8E0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 &amp; Claims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102967F-6A2B-478B-BB1E-5FA677C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4277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NGOs discover local surplus, inspect listing details and claim food for pickup.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66645B8-C158-4C8F-8A36-830B1187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FB8093-46E2-4E05-96C9-AF2FCC7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Lifecycle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2085E9-8AF7-420C-BD14-78FC4933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42779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Claimed → Picked Up state makes collection progress traceable.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D97FA73-635F-4C46-A501-0F571F31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B594191-F6B5-4111-B87E-4D46240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 &amp; ESG Reporting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774FCFB-76F4-4109-807E-D85D6845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442779"/>
            <a:ext cx="2778216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 completed pickups feed food-saved and sustainability metrics.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63011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FC61385-DDE6-025D-E181-A2046FFF07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06691CF-7670-4ED7-B78C-5D24C18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09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5. System Architecture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7158AE-8D54-400D-9A8F-8DA47FC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6212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058B086-AE1B-4CB9-8F28-E437D8C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11629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Layered web architecture with MongoDB geospatial routing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4A9309C-4D37-4E38-9468-B2F67D40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0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8539E7-22CC-4A71-8FAE-632E0013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CLIENT LAYER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51E422-02D8-48ED-84B6-1B9CAC4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+ React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9660AAE-E7D0-4A42-B7D5-6DA655CF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52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A09C861-5CFB-41F9-84C0-D9C8ED5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75A454A-F793-4B5C-B5A8-0A6FCA50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+ Express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JWT authentication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878DBDD-4903-4864-9A92-902A86D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104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65E6239-9783-4A78-B8E3-0221A2B2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94FED86-5602-4B9E-9095-1624847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+ Mongoose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Users, listings, claims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F59D33A-69C5-4CB9-8833-33A960F8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56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F838ED-D80D-40E2-9B36-296A00E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SPECIALIZED UI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3032E4-BBF2-486C-8AD5-5D7AA74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React Leaflet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Chart.js</a:t>
            </a: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3D74C091-5B49-4802-9010-D6F3272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320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7F27D42F-49F3-424F-AC45-DE64019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072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6FB8EE97-6A14-4949-9931-C250C466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823" y="2712897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FD8188E-AB51-40DE-8620-2F8BC448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12997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Geospatial routing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2D6BAF0-E6EB-48B2-9D07-21932B3F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02E88E-E069-4B0A-8511-42E8F823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location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77764A5-0DC7-485B-805E-D4F8453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GeoJSON point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28430747-6A3A-4612-8573-6159CA45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A475455-011F-4CB8-8BBC-CA4F1DD6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69E890F-D534-40D4-9391-05755EB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2dsphere index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B5A359A-2EF9-456C-914B-E5C35F3C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Indexed spatial lookup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02FEFC88-F404-474E-9EC0-4F5D243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CADC93A-E1C7-4A3F-9AA1-23A7255B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7E60998-EE2A-41F4-B117-3C060901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$geoNear / proximity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FACE7EF-D9A6-4CA0-988A-BCDEA683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Nearest eligible listings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0FEA4AA2-4A36-4226-AAEE-07156D1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3B013FCD-F6C1-44F5-9486-9FA9864D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6847CCC-5299-4345-A8C3-515F0BDA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235D31F-00C5-460C-ACA3-9F42AEB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Distance + pickup window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8B9744EE-6126-4ACF-8619-D8F7815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524677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Result: location-aware discovery without moving complex routing logic into the client.</a:t>
            </a:r>
          </a:p>
        </p:txBody>
      </p:sp>
    </p:spTree>
    <p:extLst>
      <p:ext uri="{BB962C8B-B14F-4D97-AF65-F5344CB8AC3E}">
        <p14:creationId xmlns:p14="http://schemas.microsoft.com/office/powerpoint/2010/main" val="514676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158DDF-75B0-FEE8-CF8F-7E5BE60B2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291E6C-2D3B-4441-8C1A-C5F5544F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69848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6. Donor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CAF7D73-4CE9-42F3-9E38-113A49B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0180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Businesses can publish surplus inventory before closing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F7F287-EA21-403E-BDC6-9CFF39C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92808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F0DCEC-7FCD-442F-86C7-1C749906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84248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8436EF-4CC1-4E8D-9B89-92B162BB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58568"/>
            <a:ext cx="1762316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Business enters donor account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04EC768-60C6-4150-A649-99BA5E2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514600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046F81E-536A-4646-9A0E-8285DAF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34056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35CC43-6FD8-4B25-99FD-63FADE46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25496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8505DA-5B4D-48CD-AC2D-5B6DAE8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99816"/>
            <a:ext cx="1814703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Views active listings and impact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41B002E6-95CE-4D0B-BC15-729B23C8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355848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09D54A3-E706-448F-84A3-E913D15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75304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A3CF4C5-9490-4262-A109-B2A02615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6674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QUICK ADD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836EAFF-6941-4FB3-8BBC-F20B5EB0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41064"/>
            <a:ext cx="1290828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Select item + quantity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12AFFC3D-CBF7-41F0-AEFD-B63512F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4197096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94A39B2-7DF2-4532-8F35-4AE14A1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16552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CE48FBB-B222-4F8A-A128-EE26EF1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507992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5C43F75-0245-45D5-A107-FBC4CC53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782312"/>
            <a:ext cx="1257491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Choose start and end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733AEE62-0A9C-471E-B8B0-70F55DFF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5038344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1433025-C08A-4DEB-B091-AD9EAD6E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57800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7EAEEB-F16B-42F9-90F9-AECCF0E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49240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7DA44EA-DA1E-4E83-903B-39FCF6CB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623560"/>
            <a:ext cx="1476566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Listing becomes available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E9B9888-1359-4388-9D13-2706F51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892808"/>
            <a:ext cx="7360920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61181AB-D80E-4DCF-9F70-491B28F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84248"/>
            <a:ext cx="7104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What the donor can see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C252A34-3D74-4EC2-B947-91A5B77A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414016"/>
            <a:ext cx="685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Food saved and active listing metrics.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A quick-add workflow designed for a busy closing shift.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Listing status: Available / Claimed / Picked Up.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Pickup window shown clearly to receivers.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Past listings remain available for traceability.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256C750-868C-4E9B-A626-CA7BFC5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5" y="4818888"/>
            <a:ext cx="6857999" cy="826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Primary demonstration: create a surplus listing in a few steps and immediately make it discoverable.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58145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9586A85-F6A6-CEC6-B149-5D39AFF759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1746CA3-B9F1-40A4-BC3D-48B67AE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96696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7. Receiver Workflow &amp; Location Discovery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C0712F-4D48-45C9-A3F2-AB42FFA1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841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NGOs use the nearby-food map to decide what to collect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C6BD94-3807-4737-B87B-653DD112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42463"/>
            <a:ext cx="49377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2D8C0B6-A94A-48AA-8EC2-A0D85E2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7055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LIVE MAP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B00FAAE-10A2-48DD-ABCE-15F4809D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511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578760D1-CDE5-4A7B-A3B5-C14DEEE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3235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59C645E-D14B-4482-AA05-1777811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0959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8F88ACDC-6B94-462D-8AFC-D7ADDEF9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8683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8CB40945-6CC9-49DB-8BF9-EF378FA7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25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3D0771C7-BC1E-4E40-98F5-1263698C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468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798B0F4D-3AB6-465D-ACD5-4DA98ED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5760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39344A9A-0DC6-4B79-9F38-10049F3F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6279" y="2172230"/>
            <a:ext cx="137161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90772B7-16A6-4F8E-97E0-7EA08D1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6659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F6F477-4C19-47EC-864F-54F427B3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8487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C2FC925-050F-45E6-863F-31168186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4675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A62A47-33AE-4F5D-863B-8BAA6F9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65038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7A1C893-75E2-417F-A1FA-789D6209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4947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1538C7D-2829-476E-AFF4-47D96C92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6775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649201B-FAFE-4B9C-B92C-0BBC209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16015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339C6F"/>
                </a:solidFill>
                <a:latin typeface="Aptos"/>
                <a:ea typeface="Aptos"/>
                <a:cs typeface="Aptos"/>
              </a:rPr>
              <a:t>Receiver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27A330D-97E5-492D-8727-96B3770E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4246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94CD924-F84D-4EF0-BFC4-6FFBF450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183390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Nearby listing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E2F5067-5278-45B9-8C47-E3DE356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8137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FreshBakes Bakery • 50 Croissants • 1.8 km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3677394-E5CA-49BF-9420-EB63EC9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7690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98F049E-DA06-4930-92ED-F726726D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06834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977DD6A-95E9-4325-83BB-1E15588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41581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19:00–21:00 • Available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5390BF9C-0F61-4BEA-A935-F2226217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1134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3DFBD36-CB3C-48F7-BD10-2D4ECEB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30278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16CE22A-A58A-4378-8F3C-3D261E36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65025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 details → Claim → Pick up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C24A7B1-50CB-4BF0-BFD7-02C62F3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428142"/>
            <a:ext cx="5922335" cy="701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The platform tells the NGO what is available and where it is; the claim/pickup lifecycle then records completion.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8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982749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ACA2E1-6BAB-F6C0-3C2E-98CD424050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36FC4F9-FFD6-4667-BC75-C3FBE20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8. Admin &amp; ESG Reporting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3D5282-B096-49B1-9D56-F838013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9105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Platform oversight plus measurable sustainability impact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506B49F-DADF-4778-8A9B-7B2A23A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390"/>
            <a:ext cx="50749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2423FB6-38C4-455B-B232-960D837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75830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 operations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CF6A11A-77F8-42B7-AF61-3A017EA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310"/>
            <a:ext cx="452628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Review pending NGO applications.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Verify food-safety documentation.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Monitor active listings and claims.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platform-wide food rescued.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Maintain an auditable record of activity.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4BE787A-6F99-4388-9451-AE7E57DB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84390"/>
            <a:ext cx="457200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BAA33B5-DD22-420C-9698-906C8A8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5" y="2075830"/>
            <a:ext cx="4315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ESG dashboard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B7C5B9D-75A3-4367-8EB8-F00D872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66E7B6-5BE9-4FA3-BAC5-BAD713BD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1,284 kg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D2018ED-CB87-40C9-A04B-D16AA2DD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0EAE1A8-18B6-4202-BD88-6D770B6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DEBD74E-C538-4273-8501-1F471E75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007BEB7-1B04-47F0-9779-A450C4F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Pickups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6C97A14-D501-46B4-8FE5-8103096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38944E-6340-42E4-9FC9-A48BB94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E72FDFD-9F9A-4C17-8301-AA0B9C10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Verified NGOs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FC1740A-0143-406F-A82C-42894DB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72175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585858"/>
                </a:solidFill>
                <a:latin typeface="Aptos"/>
                <a:ea typeface="Aptos"/>
                <a:cs typeface="Aptos"/>
              </a:rPr>
              <a:t>Illustrative reporting dimensions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A36726-319E-462E-A2AE-6CD8EE27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0783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90532AC-0B72-45AE-BACE-C40B59C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12491C9-A695-4FAF-BE7C-E0FFA7D6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14518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8933CE9-C79D-4419-B9CC-CAC9452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5355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CO₂ avoided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E0C2937-7916-4DE1-BF08-978A9B02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8F0311C-B4B0-40D4-9C06-03F11288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172547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9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3831F94-016D-4A92-B31B-A7FB7518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927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Completed claims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AF747BC-C0F4-4139-865C-DC32793F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3E19FD0-7028-49FC-84D3-93455D3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153893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D0CE58C-BC68-437A-9CC6-70EB31B6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44" y="5632846"/>
            <a:ext cx="4362824" cy="697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7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Claims and completed pickups create the evidence trail behind impact reporting.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7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507288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1549C5A-B25F-2522-03E9-5862B8258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60C125-591C-4575-AFE9-B12CE58C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21043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9. Technology Stack &amp; Data Model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AB7972-9F1C-45DD-9087-FB551C11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823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the chosen stack fits the problem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5DC10B0-514B-4D5B-887A-7EA826C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5B61B3-7E48-4AFE-90A0-0A2331A0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62AD2BB-5C8B-4FCD-B9A0-1EF1903C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• React • 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3F48180-3350-4025-A2B4-8F20A63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66B09E-6AFD-4EC4-A9A6-578707C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BD83B25-EE1A-4DA7-A20A-19473952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• Express • JWT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B2B59B2-2C0F-48F8-8058-9EADBE2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03656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072326A-3202-452A-8275-F45B3F42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12800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&amp; Visualization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CA12510-C81D-4F3B-A33F-E87E91B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475472"/>
            <a:ext cx="32186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• Mongoose • Leaflet • Chart.js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907CCE-7F53-4EE4-8451-A241BFF6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3880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637120D-710C-4946-9D39-CED975F2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A908C5F-699E-4154-B138-5F0FE22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EEB1F9-3820-4C91-B47F-6C73C41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Donor / NGO / Admin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2A334FF-BBE9-4A78-A628-5A3BBB96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51CF663-A113-4DED-8420-760A4DE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Listing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A88AF14-4E5A-4894-9F3D-12EF1119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+ quantity + pickup window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75F0187-3A0B-4406-A64A-F8394CA7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BBA124-9C31-4E9B-855F-68849214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3BBA3A-CFA1-42AF-9DB5-DE12FE51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Receiver + listing + status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363E224A-9889-47E9-ACEB-F4FBD8A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A6645A5-6491-484C-B2FD-BB6F19F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AuditLog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EC82787-DF4D-42AB-A2D2-BACDEB4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Traceability of key actions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A4FAB8D-1D84-408E-88AE-83586D0E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7BF267A-02C9-4272-9DF3-BA54051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A2B3C61-1047-42F6-824F-27CEBB9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classification</a:t>
            </a:r>
          </a:p>
        </p:txBody>
      </p:sp>
      <p:sp>
        <p:nvSpPr>
          <p:cNvPr id="3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820AB9D-1A65-ADBC-4063-AF64AAA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4" y="4958387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MongoDB geospatial layer</a:t>
            </a:r>
          </a:p>
          <a:p xmlns:a="http://schemas.openxmlformats.org/drawingml/2006/main">
            <a:pPr algn="ctr">
              <a:buNone/>
            </a:pPr>
            <a:r>
              <a:rPr sz="1060">
                <a:solidFill>
                  <a:srgbClr val="2C2C2C"/>
                </a:solidFill>
                <a:latin typeface="Aptos"/>
                <a:ea typeface="Aptos"/>
                <a:cs typeface="Aptos"/>
              </a:rPr>
              <a:t>2dsphere index → proximity query → nearby receiver discovery</a:t>
            </a:r>
          </a:p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5395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A10959-4776-4A13-BF53-EC66D37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3854641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10. Latest Implementation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73751-9F07-44A8-B7DF-2FFF079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3848290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Recent product, integration and presentation updates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C788A5DB-9280-43E7-A418-7D34DF7C02A4}"/>
              </a:ext>
            </a:extLst>
          </p:cNvPr>
          <p:cNvGraphicFramePr/>
          <p:nvPr/>
        </p:nvGraphicFramePr>
        <p:xfrm>
          <a:off xmlns:a="http://schemas.openxmlformats.org/drawingml/2006/main" x="743429" y="1718973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Latest implementation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Homepage &amp; design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NGO-first India home; fresh palette, credited photos and Bootstrap 5.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Role-based journeys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Next.js donor, receiver and admin flows share JWT authentication.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&amp; security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Express routes use JWT verification and role guards.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 discovery &amp;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GeoJSON + $geoNear power nearby lists and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Pickup, ESG &amp; Figma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Modal fix; 2.5× CO₂e reporting; Figma screens and UI polish.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Refined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4BFE23-3EA5-4159-95F7-4352016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345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Local demo needs MongoDB + API :5000 + web :3000; phone/LAN access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A10959-4776-4A13-BF53-EC66D37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4373753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11. Integration &amp; Demo Check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73751-9F07-44A8-B7DF-2FFF079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6659753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Implemented pathways are in place; live end-to-end checks require the local API and database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BA2501EE-D56B-4EF6-B129-FEBD6D3F40EF}"/>
              </a:ext>
            </a:extLst>
          </p:cNvPr>
          <p:cNvGraphicFramePr/>
          <p:nvPr/>
        </p:nvGraphicFramePr>
        <p:xfrm>
          <a:off xmlns:a="http://schemas.openxmlformats.org/drawingml/2006/main" x="743429" y="1718973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Flow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Behavior covered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Donor login + Quick Add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JWT sign-in; donor-only listing creation with a pickup window.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Nearby discovery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results appear in the list and as location-based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Claim workflow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Receiver claim checks availability and assigns an available listing atomically.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Authorized completion updates claim state and records an audit event.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Admin + ESG reports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Role-guarded admin and report routes aggregate completed pickup weight.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4BFE23-3EA5-4159-95F7-4352016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13034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Result: an end-to-end website prototype demonstrates the donor → routing → receiver → pickup → reporting lifecycle.</a:t>
            </a:r>
          </a:p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Access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Github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 repo for code :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  <a:hlinkClick xmlns:r="http://schemas.openxmlformats.org/officeDocument/2006/relationships" r:id="R83cbe78cdaff4671"/>
              </a:rPr>
              <a:t>Hyperlink</a:t>
            </a:r>
            <a:b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</a:b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D40BE4-3DE0-9001-00CD-44961C2F3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BE0682-AFE0-437A-969D-9D49D522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42416"/>
            <a:ext cx="413562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12. Conclusion &amp; References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956B36-EF60-47F4-8086-BB267A7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6885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 provides a practical digital bridge between surplus and community need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2DBCB9F-619A-4DF4-97C5-CB93C9A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7181"/>
            <a:ext cx="507492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FD03569-71A8-45A1-93A9-08B8A251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98621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3283120-A150-42F7-8C5C-9AB55D9C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10100"/>
            <a:ext cx="4709160" cy="1607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Makes surplus food visible before its pickup window expires.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Uses location-aware discovery to reduce coordination friction.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Provides role-based workflows for donors, receivers and admins.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Tracks claims and pickups so impact can be reported.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Creates a foundation for future alerts, optimization and scale.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44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C07AA81-E3CF-4FAA-B7BF-8C28B0F0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807181"/>
            <a:ext cx="466344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6555C65-52C1-420E-B9B6-ADF9A3C5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1898621"/>
            <a:ext cx="440740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32E9A8-1E6B-4454-884F-2749940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64380"/>
            <a:ext cx="3844066" cy="1835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Somaiya WPL Mini Project Rubrics &amp; PPT Guidelines.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Next.js Documentation — nextjs.org/docs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MongoDB Documentation — mongodb.com/docs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Mongoose Documentation — mongoosejs.com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React Leaflet — react-leaflet.js.org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Chart.js Documentation — chartjs.org/docs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UN Sustainable Development Goals — sdgs.un.org/goals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5B470C-C539-4500-8664-ED9DA9FB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28789"/>
            <a:ext cx="9692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2845021"/>
      </p:ext>
    </p:extLst>
  </p:cSld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2026-10-21T20:28:48.0450000Z</dcterms:created>
  <dcterms:modified xsi:type="dcterms:W3CDTF">2026-10-21T20:28:48.0450000Z</dcterms:modified>
</coreProperties>
</file>