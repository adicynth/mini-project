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8fdb06a77c4c69" /><Relationship Type="http://schemas.openxmlformats.org/officeDocument/2006/relationships/extended-properties" Target="/docProps/app.xml" Id="Rd7838f1dc79a40ff" /><Relationship Type="http://schemas.openxmlformats.org/officeDocument/2006/relationships/officeDocument" Target="/ppt/presentation.xml" Id="R7ab8a7ea47404495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c3c67d38719641e3"/>
  </p:sldMasterIdLst>
  <p:notesMasterIdLst>
    <p:notesMasterId xmlns:r="http://schemas.openxmlformats.org/officeDocument/2006/relationships" r:id="Rec095781e79649cf"/>
  </p:notesMasterIdLst>
  <p:sldIdLst>
    <p:sldId xmlns:r="http://schemas.openxmlformats.org/officeDocument/2006/relationships" id="256" r:id="Rd1f6fa5327324194"/>
    <p:sldId xmlns:r="http://schemas.openxmlformats.org/officeDocument/2006/relationships" id="257" r:id="R286388c647e14845"/>
    <p:sldId xmlns:r="http://schemas.openxmlformats.org/officeDocument/2006/relationships" id="258" r:id="R14fab29cc95f4c79"/>
    <p:sldId xmlns:r="http://schemas.openxmlformats.org/officeDocument/2006/relationships" id="259" r:id="R0ee9125cbd7846d4"/>
    <p:sldId xmlns:r="http://schemas.openxmlformats.org/officeDocument/2006/relationships" id="260" r:id="Rfac949dbb2b54d09"/>
    <p:sldId xmlns:r="http://schemas.openxmlformats.org/officeDocument/2006/relationships" id="261" r:id="R475f3e1c19904222"/>
    <p:sldId xmlns:r="http://schemas.openxmlformats.org/officeDocument/2006/relationships" id="262" r:id="R1ef42717d61b461a"/>
    <p:sldId xmlns:r="http://schemas.openxmlformats.org/officeDocument/2006/relationships" id="263" r:id="R44f44c9f17dd41cf"/>
    <p:sldId xmlns:r="http://schemas.openxmlformats.org/officeDocument/2006/relationships" id="264" r:id="Rf250b7e1d79e489f"/>
    <p:sldId xmlns:r="http://schemas.openxmlformats.org/officeDocument/2006/relationships" id="265" r:id="Ra25bed4826c94255"/>
    <p:sldId xmlns:r="http://schemas.openxmlformats.org/officeDocument/2006/relationships" id="266" r:id="R715ecdfd44894738"/>
    <p:sldId xmlns:r="http://schemas.openxmlformats.org/officeDocument/2006/relationships" id="267" r:id="R947c93b108f6481d"/>
    <p:sldId xmlns:r="http://schemas.openxmlformats.org/officeDocument/2006/relationships" id="268" r:id="Red1b9e24d30f484f"/>
  </p:sldIdLst>
  <p:sldSz cx="12192000" cy="6858000"/>
  <p:notesSz cx="6858000" cy="9144000"/>
  <p:embeddedFontLst>
    <p:embeddedFont>
      <p:font typeface="Fira Sans"/>
      <p:regular xmlns:r="http://schemas.openxmlformats.org/officeDocument/2006/relationships" r:id="R80c148e15a89424a"/>
      <p:bold xmlns:r="http://schemas.openxmlformats.org/officeDocument/2006/relationships" r:id="Red8e2d79bd9a4593"/>
      <p:italic xmlns:r="http://schemas.openxmlformats.org/officeDocument/2006/relationships" r:id="Rdeea0725c64d4ec9"/>
      <p:boldItalic xmlns:r="http://schemas.openxmlformats.org/officeDocument/2006/relationships" r:id="R1fa2ebbf03a84e18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ff6db9c1bb4579" /><Relationship Type="http://schemas.openxmlformats.org/officeDocument/2006/relationships/slideMaster" Target="/ppt/slideMasters/slideMaster1.xml" Id="Rc3c67d38719641e3" /><Relationship Type="http://schemas.openxmlformats.org/officeDocument/2006/relationships/notesMaster" Target="/ppt/notesMasters/notesMaster1.xml" Id="Rec095781e79649cf" /><Relationship Type="http://schemas.openxmlformats.org/officeDocument/2006/relationships/presProps" Target="/ppt/presProps.xml" Id="Rf46eba3e2ec147be" /><Relationship Type="http://schemas.openxmlformats.org/officeDocument/2006/relationships/viewProps" Target="/ppt/viewProps.xml" Id="R02a28b3f5c604ad0" /><Relationship Type="http://schemas.openxmlformats.org/officeDocument/2006/relationships/tableStyles" Target="/ppt/tableStyles.xml" Id="R613644bc15b94e85" /><Relationship Type="http://schemas.openxmlformats.org/officeDocument/2006/relationships/font" Target="/ppt/fonts/font.dat" Id="R80c148e15a89424a" /><Relationship Type="http://schemas.openxmlformats.org/officeDocument/2006/relationships/font" Target="/ppt/fonts/font2.dat" Id="Red8e2d79bd9a4593" /><Relationship Type="http://schemas.openxmlformats.org/officeDocument/2006/relationships/font" Target="/ppt/fonts/font3.dat" Id="Rdeea0725c64d4ec9" /><Relationship Type="http://schemas.openxmlformats.org/officeDocument/2006/relationships/font" Target="/ppt/fonts/font4.dat" Id="R1fa2ebbf03a84e18" /><Relationship Type="http://schemas.openxmlformats.org/officeDocument/2006/relationships/slide" Target="/ppt/slides/slide1.xml" Id="Rd1f6fa5327324194" /><Relationship Type="http://schemas.openxmlformats.org/officeDocument/2006/relationships/slide" Target="/ppt/slides/slide2.xml" Id="R286388c647e14845" /><Relationship Type="http://schemas.openxmlformats.org/officeDocument/2006/relationships/slide" Target="/ppt/slides/slide3.xml" Id="R14fab29cc95f4c79" /><Relationship Type="http://schemas.openxmlformats.org/officeDocument/2006/relationships/slide" Target="/ppt/slides/slide4.xml" Id="R0ee9125cbd7846d4" /><Relationship Type="http://schemas.openxmlformats.org/officeDocument/2006/relationships/slide" Target="/ppt/slides/slide5.xml" Id="Rfac949dbb2b54d09" /><Relationship Type="http://schemas.openxmlformats.org/officeDocument/2006/relationships/slide" Target="/ppt/slides/slide6.xml" Id="R475f3e1c19904222" /><Relationship Type="http://schemas.openxmlformats.org/officeDocument/2006/relationships/slide" Target="/ppt/slides/slide7.xml" Id="R1ef42717d61b461a" /><Relationship Type="http://schemas.openxmlformats.org/officeDocument/2006/relationships/slide" Target="/ppt/slides/slide8.xml" Id="R44f44c9f17dd41cf" /><Relationship Type="http://schemas.openxmlformats.org/officeDocument/2006/relationships/slide" Target="/ppt/slides/slide9.xml" Id="Rf250b7e1d79e489f" /><Relationship Type="http://schemas.openxmlformats.org/officeDocument/2006/relationships/slide" Target="/ppt/slides/slide10.xml" Id="Ra25bed4826c94255" /><Relationship Type="http://schemas.openxmlformats.org/officeDocument/2006/relationships/slide" Target="/ppt/slides/slide11.xml" Id="R715ecdfd44894738" /><Relationship Type="http://schemas.openxmlformats.org/officeDocument/2006/relationships/slide" Target="/ppt/slides/slide12.xml" Id="R947c93b108f6481d" /><Relationship Type="http://schemas.openxmlformats.org/officeDocument/2006/relationships/slide" Target="/ppt/slides/slide13.xml" Id="Red1b9e24d30f48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9ac4d189b943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91f80f99b34062" /><Relationship Type="http://schemas.openxmlformats.org/officeDocument/2006/relationships/notesMaster" Target="/ppt/notesMasters/notesMaster1.xml" Id="Reff92e815c5e42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5e42463c544e32" /><Relationship Type="http://schemas.openxmlformats.org/officeDocument/2006/relationships/notesMaster" Target="/ppt/notesMasters/notesMaster1.xml" Id="R20a66376581944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8ea3bd3ef0454b" /><Relationship Type="http://schemas.openxmlformats.org/officeDocument/2006/relationships/notesMaster" Target="/ppt/notesMasters/notesMaster1.xml" Id="R319124f113bf4d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19dae1d8124e7e" /><Relationship Type="http://schemas.openxmlformats.org/officeDocument/2006/relationships/notesMaster" Target="/ppt/notesMasters/notesMaster1.xml" Id="Reee21c0c8ebe49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75fb2feded49b9" /><Relationship Type="http://schemas.openxmlformats.org/officeDocument/2006/relationships/notesMaster" Target="/ppt/notesMasters/notesMaster1.xml" Id="R885487984bf84f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0dbf4120124e88" /><Relationship Type="http://schemas.openxmlformats.org/officeDocument/2006/relationships/notesMaster" Target="/ppt/notesMasters/notesMaster1.xml" Id="Rf7ebd953250048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a4067a2a3c4703" /><Relationship Type="http://schemas.openxmlformats.org/officeDocument/2006/relationships/notesMaster" Target="/ppt/notesMasters/notesMaster1.xml" Id="R355310faf7a045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ffc6583b4f4ffc" /><Relationship Type="http://schemas.openxmlformats.org/officeDocument/2006/relationships/notesMaster" Target="/ppt/notesMasters/notesMaster1.xml" Id="Ra976286405dc46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5252a742e74efd" /><Relationship Type="http://schemas.openxmlformats.org/officeDocument/2006/relationships/notesMaster" Target="/ppt/notesMasters/notesMaster1.xml" Id="R193d0895fb5248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52367b82684d69" /><Relationship Type="http://schemas.openxmlformats.org/officeDocument/2006/relationships/notesMaster" Target="/ppt/notesMasters/notesMaster1.xml" Id="R5c94bd0993fd43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0b84ddf3fa46d4" /><Relationship Type="http://schemas.openxmlformats.org/officeDocument/2006/relationships/notesMaster" Target="/ppt/notesMasters/notesMaster1.xml" Id="R94e9e2878c4d4d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af6ea4e9c54f9b" /><Relationship Type="http://schemas.openxmlformats.org/officeDocument/2006/relationships/notesMaster" Target="/ppt/notesMasters/notesMaster1.xml" Id="Rd8357343b86a41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d4a7e879d144a7" /><Relationship Type="http://schemas.openxmlformats.org/officeDocument/2006/relationships/notesMaster" Target="/ppt/notesMasters/notesMaster1.xml" Id="R189a6cf82a834f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IMPLEMENTATION — 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 and visual system: the public homepage was refocused on surplus-food rescue and NGO/receiver audiences in India. Credited community/NGO and food photography, a new warm palette, Bootstrap 5 responsive grid utilities and clearer calls to action replace the earlier visual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Frontend journeys: Next.js App Router pages use shared authentication state and role-aware navigation for donor, receiver and admin roles. The API client reads NEXT_PUBLIC_API_URL (default http://localhost:5000/api) and attaches JWT Bearer tokens. Donor flows create listings; receiver flows discover and claim surplus; admin flows support oversight.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 integration: Express mounts health, auth, listings, claims, admin and reports route families. Authentication verifies JWTs, and requireRole guards role-specific actions. Mongoose persists users, listings, claims, categories and audit logs. The health endpoint is /api/health.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Location and pickup: listings store GeoJSON Point coordinates as [longitude, latitude] and use a 2dsphere index. Nearby discovery uses MongoDB $geoNear rather than arithmetic distance. Receiver results are represented in both the list and Leaflet map. Listing details use a scrollable modal layered above the map. Claiming is atomic; pickup completion records an audit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Impact and design delivery: completed pickup weight feeds reports using 1 kg of rescued food = 2.5 kg CO₂e avoided (meal equivalent: 2 meals/kg). The existing FoodBridge Figma file/page was updated; recent polish corrected bullet alignment, organization initials, form labels and palette swatches, and added prototype motion.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demo: MongoDB is expected at mongodb://127.0.0.1:27017/foodbridge. Start the backend with npm run dev from backend, then start the frontend with npm run dev from frontend; defaults are API port 5000 and web port 3000. Open the frontend on the laptop after confirming /api/health. Phone/LAN access has not been verified and requires matching network reachability, firewall access and a LAN-reachable API URL.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note: statuses describe implemented UI/routes, not a claim that every service was running during this deck update. The API depends on MongoDB at mongodb://127.0.0.1:27017/foodbridge. Check http://localhost:5000/api/health, run the backend from backend with npm run dev, then the frontend from frontend with npm run dev. The browser should use the laptop's frontend at http://localhost:3000. Phone/LAN access is still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897a0894a4f7f" /></Relationships>
</file>

<file path=ppt/slideLayouts/slideLayout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15">
            <a:extLst xmlns:a="http://schemas.openxmlformats.org/drawingml/2006/main">
              <a:ext uri="{FF2B5EF4-FFF2-40B4-BE49-F238E27FC236}">
                <a16:creationId xmlns:a16="http://schemas.microsoft.com/office/drawing/2014/main" id="{34CE0202-1DFF-4547-AF98-0E8D18C3F0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5">
            <a:extLst xmlns:a="http://schemas.openxmlformats.org/drawingml/2006/main">
              <a:ext uri="{FF2B5EF4-FFF2-40B4-BE49-F238E27FC236}">
                <a16:creationId xmlns:a16="http://schemas.microsoft.com/office/drawing/2014/main" id="{CCB71AEB-A826-4596-8719-921BE27A21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0" name="Google Shape;80;p15">
            <a:extLst xmlns:a="http://schemas.openxmlformats.org/drawingml/2006/main">
              <a:ext uri="{FF2B5EF4-FFF2-40B4-BE49-F238E27FC236}">
                <a16:creationId xmlns:a16="http://schemas.microsoft.com/office/drawing/2014/main" id="{5AA33C18-EEA7-435D-80A3-07BE5B56EE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98941" y="6492875"/>
            <a:ext cx="4930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  <p:sp>
        <p:nvSpPr>
          <p:cNvPr id="7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4C4A532-1080-4BE9-B106-1A2DFFF8212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564239" y="6514141"/>
            <a:ext cx="932788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Fira Sans"/>
                <a:ea typeface="Fira Sans"/>
                <a:cs typeface="Fira Sans"/>
              </a:rPr>
              <a:t>2nd International Conference on Technologies for Energy Agriculture and Healthcare (ICTEAH 2025)</a:t>
            </a:r>
            <a:endParaRPr sz="1600">
              <a:solidFill>
                <a:schemeClr val="bg1"/>
              </a:solidFill>
              <a:latin typeface="Fira Sans"/>
              <a:ea typeface="Fira Sans"/>
              <a:cs typeface="Fira San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87d94ebf71d4b5b" /><Relationship Type="http://schemas.openxmlformats.org/officeDocument/2006/relationships/image" Target="/ppt/media/image2.png" Id="R0b5c50c503724f9f" /><Relationship Type="http://schemas.openxmlformats.org/officeDocument/2006/relationships/image" Target="/ppt/media/image3.png" Id="R3c825eb144694aad" /><Relationship Type="http://schemas.openxmlformats.org/officeDocument/2006/relationships/image" Target="/ppt/media/image4.png" Id="R6c27ae5cb8f34968" /><Relationship Type="http://schemas.openxmlformats.org/officeDocument/2006/relationships/theme" Target="/ppt/slideMasters/theme/theme2.xml" Id="Rfa42944833664872" /><Relationship Type="http://schemas.openxmlformats.org/officeDocument/2006/relationships/slideLayout" Target="/ppt/slideLayouts/slideLayout1.xml" Id="R3398a98c1ffc424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4">
            <a:extLst xmlns:a="http://schemas.openxmlformats.org/drawingml/2006/main">
              <a:ext uri="{FF2B5EF4-FFF2-40B4-BE49-F238E27FC236}">
                <a16:creationId xmlns:a16="http://schemas.microsoft.com/office/drawing/2014/main" id="{1928B0D0-AB1E-4058-A291-5C5128BE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257" y="294320"/>
            <a:ext cx="9129486" cy="73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" name="Google Shape;11;p4">
            <a:extLst xmlns:a="http://schemas.openxmlformats.org/drawingml/2006/main">
              <a:ext uri="{FF2B5EF4-FFF2-40B4-BE49-F238E27FC236}">
                <a16:creationId xmlns:a16="http://schemas.microsoft.com/office/drawing/2014/main" id="{19A812F2-1039-4CD5-B0E9-02D09CA88C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7d94ebf71d4b5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 flipH="0" flipV="0">
            <a:off x="5897008" y="589313"/>
            <a:ext cx="385984" cy="1220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" name="Google Shape;15;p4">
            <a:extLst xmlns:a="http://schemas.openxmlformats.org/drawingml/2006/main">
              <a:ext uri="{FF2B5EF4-FFF2-40B4-BE49-F238E27FC236}">
                <a16:creationId xmlns:a16="http://schemas.microsoft.com/office/drawing/2014/main" id="{79EB0AE0-2118-48D5-81B2-17BD19144B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b5c50c503724f9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 flipH="0" flipV="0">
            <a:off x="4564844" y="1740546"/>
            <a:ext cx="176409" cy="9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8E36C967-B571-464D-8ED8-4E8268C73A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825eb144694aa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06462" y="220820"/>
            <a:ext cx="968545" cy="721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F97527D7-34CF-4C3C-8693-2EF2FCB9B9C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90734" y="6519180"/>
            <a:ext cx="72244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  <p:sp>
        <p:nvSpPr>
          <p:cNvPr id="8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55BE3B4-F9AA-4CF2-B3DF-9DB61770BE3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564239" y="6514141"/>
            <a:ext cx="932788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Fira Sans"/>
                <a:ea typeface="Fira Sans"/>
                <a:cs typeface="Fira Sans"/>
              </a:rPr>
              <a:t>2nd International Conference on Technologies for Energy Agriculture and Healthcare (ICTEAH 2025)</a:t>
            </a:r>
            <a:endParaRPr sz="1600">
              <a:solidFill>
                <a:schemeClr val="bg1"/>
              </a:solidFill>
              <a:latin typeface="Fira Sans"/>
              <a:ea typeface="Fira Sans"/>
              <a:cs typeface="Fira Sans"/>
            </a:endParaRPr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42A40E90-4B22-4935-9D68-E298B335BE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7ae5cb8f349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5152" y="260407"/>
            <a:ext cx="1982116" cy="648000"/>
          </a:xfrm>
          <a:prstGeom xmlns:a="http://schemas.openxmlformats.org/drawingml/2006/main"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98a98c1ffc4245"/>
  </p:sldLayoutIdLst>
  <p:hf hd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496f5be0d49f7" /><Relationship Type="http://schemas.openxmlformats.org/officeDocument/2006/relationships/notesSlide" Target="/ppt/notesSlides/notesSlide1.xml" Id="R14b6929f047647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cbf08ce3f484a" /><Relationship Type="http://schemas.openxmlformats.org/officeDocument/2006/relationships/notesSlide" Target="/ppt/notesSlides/notesSlide2.xml" Id="R801ad8117f1f48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091c5af7f4645" /><Relationship Type="http://schemas.openxmlformats.org/officeDocument/2006/relationships/notesSlide" Target="/ppt/notesSlides/notesSlide3.xml" Id="Rdcf116b6b5e440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df8d433fc416a" /><Relationship Type="http://schemas.openxmlformats.org/officeDocument/2006/relationships/notesSlide" Target="/ppt/notesSlides/notesSlide4.xml" Id="R33188f6a30ba4a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89f8868034bdc" /><Relationship Type="http://schemas.openxmlformats.org/officeDocument/2006/relationships/notesSlide" Target="/ppt/notesSlides/notesSlide5.xml" Id="R4ea072ab005341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bfe85635c49eb" /><Relationship Type="http://schemas.openxmlformats.org/officeDocument/2006/relationships/notesSlide" Target="/ppt/notesSlides/notesSlide6.xml" Id="Rb145c384060f49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19d854a824d6b" /><Relationship Type="http://schemas.openxmlformats.org/officeDocument/2006/relationships/notesSlide" Target="/ppt/notesSlides/notesSlide7.xml" Id="Rabdd8253d4134c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ea4be982f4a95" /><Relationship Type="http://schemas.openxmlformats.org/officeDocument/2006/relationships/notesSlide" Target="/ppt/notesSlides/notesSlide8.xml" Id="R03f1efbc302b4f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f34d82ad9446c" /><Relationship Type="http://schemas.openxmlformats.org/officeDocument/2006/relationships/notesSlide" Target="/ppt/notesSlides/notesSlide9.xml" Id="Re67ecdb9a09b4e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cdd4b96d544dc" /><Relationship Type="http://schemas.openxmlformats.org/officeDocument/2006/relationships/notesSlide" Target="/ppt/notesSlides/notesSlide10.xml" Id="R7bd6327fbc9044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a4e024290493e" /><Relationship Type="http://schemas.openxmlformats.org/officeDocument/2006/relationships/notesSlide" Target="/ppt/notesSlides/notesSlide11.xml" Id="R4c3ced6a39ad41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76d1c303649e1" /><Relationship Type="http://schemas.openxmlformats.org/officeDocument/2006/relationships/hyperlink" Target="https://github.com/AdiCynth/Mini-Project.git" TargetMode="External" Id="R6ccb4d3066294fc7" /><Relationship Type="http://schemas.openxmlformats.org/officeDocument/2006/relationships/notesSlide" Target="/ppt/notesSlides/notesSlide12.xml" Id="R50a3f085ab9542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863cceb774b38" /><Relationship Type="http://schemas.openxmlformats.org/officeDocument/2006/relationships/notesSlide" Target="/ppt/notesSlides/notesSlide13.xml" Id="Rf98e4e1778bc4e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1288E33-0E96-4B3C-A6EF-0B5CFBA712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BD20ECE-DA92-4855-84D5-F40D268B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81328"/>
            <a:ext cx="9509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4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FOODBRIDGE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5F23876-BAC8-4B27-8D80-AFB960A5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8840"/>
            <a:ext cx="8869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3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A Geo-Routed Surplus Food Redistribution Platform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57A7648-595F-43E5-B9B9-786B66CA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761488"/>
            <a:ext cx="7589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0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WPL Mini Project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9B4A74D-9DC6-49B9-B552-FA2BDC7D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218688"/>
            <a:ext cx="8046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K. J. Somaiya College of Engineering, Mumbai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9F3F273-46FE-45DA-8AAB-C51CD5C6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627" y="3675887"/>
            <a:ext cx="2556982" cy="3262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  Prepared by: Aditya Chaugala</a:t>
            </a:r>
          </a:p>
        </p:txBody>
      </p:sp>
    </p:spTree>
    <p:extLst>
      <p:ext uri="{BB962C8B-B14F-4D97-AF65-F5344CB8AC3E}">
        <p14:creationId xmlns:p14="http://schemas.microsoft.com/office/powerpoint/2010/main" val="548897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7233339-06A9-416F-ABA5-1BC6891F2E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7F3541E-023D-4D07-936B-D0927B6E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11580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1. Problem Statement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E308D56-D78C-4BB6-A611-FE6A5F87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32204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Why surplus food needs a digital bridge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28040D2-0337-4E72-B7B2-A0BDA318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0" y="2063750"/>
            <a:ext cx="507492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19937D7-E987-449F-ACAD-30AAFADC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" y="2754122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Current challenge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AE8A905-94F2-42B0-BD9B-279CB17A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1" y="3411226"/>
            <a:ext cx="4818887" cy="7340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2C2C2C"/>
                </a:solidFill>
                <a:latin typeface="Aptos"/>
                <a:ea typeface="Aptos"/>
                <a:cs typeface="Aptos"/>
              </a:rPr>
              <a:t>Mid-sized food businesses often generate safe, edible surplus near closing time. Without a fast receiver network, the cost and effort of redistribution can exceed the value of the food.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9DD8149-3C25-4111-BD21-D6AFB3C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460" y="2063750"/>
            <a:ext cx="507492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0D2624C-1318-47D8-B6A5-3118DD01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360" y="2754122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Operational gaps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FAF0DC7-8F14-4993-8566-244955EC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360" y="3334766"/>
            <a:ext cx="4818888" cy="2898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No real-time visibility of nearby receivers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Pickup windows are time-sensitive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Manual coordination causes delays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Little traceability for food rescued and ESG reporting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14535ED-D39D-424B-8D17-3C26C4C9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" y="5721350"/>
            <a:ext cx="100584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Core problem: good food is available locally, but the right receiver is not connected to it quickly enough.</a:t>
            </a:r>
          </a:p>
        </p:txBody>
      </p:sp>
    </p:spTree>
    <p:extLst>
      <p:ext uri="{BB962C8B-B14F-4D97-AF65-F5344CB8AC3E}">
        <p14:creationId xmlns:p14="http://schemas.microsoft.com/office/powerpoint/2010/main" val="6517111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122C56C-F889-DED5-9C5A-7A061E486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1A532EB-F9C1-4ABE-854A-692A7EEF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88135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2. Proposed Solution &amp; Objectives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57FBE4B-3476-4DE7-A51F-7446659B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13333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FoodBridge</a:t>
            </a: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 connects surplus, location and accountability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06B1F2D-052F-48E6-ABC3-AC07D74D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1908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1A9F4DD-015A-47ED-AC29-D6E59E13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068E780-87FB-41CD-9091-39F57379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Lists surplus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CDF17AEE-6447-4C6B-80CA-F9DBA49C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81FE6DC-F9E3-4B3F-8AB8-9BE7538A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052828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71DA1EB-82CF-4D40-875A-1314AAF8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FOODBRIDGE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0388256-7BE5-45C3-8B8B-14B3AEF1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Matches nearby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eligible receivers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162E1696-4997-4056-B890-B8B4FE86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3423637-E6D5-49ED-894B-963926DC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68830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A99CB75-D026-48CA-AD83-28BBCE6E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13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NGO / FOOD BANK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99080CD-D8A0-45B3-801E-46F3E19D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13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Claims and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collects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FA8BA481-8DE1-40FC-9334-73DC6A9C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848F2DD-3D2B-4249-B536-E2A0C497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8416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EF28E64-BA85-41C6-9AB3-FE345717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A33144D-4B6B-4109-A9B0-3B35C9DD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Records rescued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&amp; metrics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F7D7766-B87C-4A7C-A4D7-321D716B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Key objectives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00E2064-95A9-492A-8F9F-8D01A156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96512"/>
            <a:ext cx="1005840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Reduce edible food sent to landfill.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Use location-aware discovery to minimize pickup distance.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Enforce pickup windows for perishable inventory.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Track claims, pickups and food saved for ESG reporting.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F8A4B250-7207-4207-93A3-6ED2B15C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224528"/>
            <a:ext cx="13258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BB16A3D-5D6A-420C-9131-19456420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279391"/>
            <a:ext cx="1069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SDG 12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9BF3EAD-2B50-4A52-B293-1671F0BD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626864"/>
            <a:ext cx="10698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Responsible</a:t>
            </a:r>
            <a:b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Consumption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E7E213A1-385C-4C83-AC8F-B1DDB7B0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224528"/>
            <a:ext cx="13258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3BE3424-B85D-427E-A1A7-68ABBA89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279391"/>
            <a:ext cx="1069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SDG 13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A25EDC5-FF18-4FE0-B57A-964C84DE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26864"/>
            <a:ext cx="10698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Climate</a:t>
            </a:r>
            <a:b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19249152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EE03235-F7C6-AAE7-EE88-005EA614B6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ECEA717-9130-439E-ADA6-12AA69AB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2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3. Target Users &amp; End-to-End Workflow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9C51346-5E71-45AE-BDA9-85752D69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938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Three roles, one traceable redistribution lifecycle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0E5BBF4-E8F2-468F-91A5-D47DAF3E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4AAC1C-78C4-479F-B72C-0AEA444A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/ SME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F1336EB-538A-4810-BE92-2F846D65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752345"/>
            <a:ext cx="2918566" cy="7109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2C2C2C"/>
                </a:solidFill>
                <a:latin typeface="Aptos"/>
                <a:ea typeface="Aptos"/>
                <a:cs typeface="Aptos"/>
              </a:rPr>
              <a:t>Restaurant, bakery, caterer or grocery business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30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3412E66-2B6F-40C4-BD3C-A623EEF9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E2BF6A8-4D98-4885-8D44-7EC9098A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/ NGO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0561261-8C6E-4396-AA73-F476A4F4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7" y="2752345"/>
            <a:ext cx="3026663" cy="7109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2C2C2C"/>
                </a:solidFill>
                <a:latin typeface="Aptos"/>
                <a:ea typeface="Aptos"/>
                <a:cs typeface="Aptos"/>
              </a:rPr>
              <a:t>Verified food bank or community organization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30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EB5C675-9CE1-4BA5-9359-DC76FD4F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01FB54F-30D8-40AF-9835-0D3956B0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5188153-B1C7-435A-85B4-13633A70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752345"/>
            <a:ext cx="2990087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Vets NGOs and monitors platform health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EE588BD4-C761-466D-AB26-FE08DCBD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5D99AC8-8742-43BA-A4B8-3E813632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36876E2-D3E3-4A36-9389-5D5C7EA3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 surplus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FD53D80-D924-467A-9A88-735F80DE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Item + quantity + pickup window</a:t>
            </a:r>
          </a:p>
        </p:txBody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24DE86C4-6905-4DF7-98E8-E56CA658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0C7933E1-E03F-436F-8830-1A84DB50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5F07AD2-51B5-4AFF-BFB6-F916212F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FB57E73-0C40-4815-95B0-5A4E209A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Geo-match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1575B5C-7336-461C-A3CD-5BB5A0F1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Nearby eligible receivers</a:t>
            </a:r>
          </a:p>
        </p:txBody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B548DCBF-2C0C-43A9-8492-E0B05CCA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E76D6F04-0852-4BB9-B71D-9AA9F4E1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156F866-DBAB-4F89-92DD-8D5451AC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71DDF55-A23F-47AE-9E68-DE3E86DE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6367F30-952C-42DF-9E2E-6166F136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NGO reserves the listing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F9E0A9AA-B139-44C7-B476-9C27863F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FD9F7C70-4486-4CA5-9613-F47808CA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406DB51-8526-4212-8B73-257274B2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0D5E2CB-7F8C-4F35-AE37-27A47005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Pickup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4A3181D3-1DD1-48E1-AB42-4819E153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1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Collect before expiry</a:t>
            </a:r>
          </a:p>
        </p:txBody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B86B30FE-C060-4D3B-A51F-C913CB29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215384"/>
            <a:ext cx="438911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0AF59CAB-2B5A-4ECB-9664-8F349E4A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5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93B8B3EA-BDFE-4490-A23B-EE1222A9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5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E4CCBB86-67B8-435A-AAF3-FAD6CFDD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9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04639BAF-6B82-45D9-9222-FC6510AE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1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Update rescued-food metrics</a:t>
            </a:r>
          </a:p>
        </p:txBody>
      </p:sp>
    </p:spTree>
    <p:extLst>
      <p:ext uri="{BB962C8B-B14F-4D97-AF65-F5344CB8AC3E}">
        <p14:creationId xmlns:p14="http://schemas.microsoft.com/office/powerpoint/2010/main" val="9134161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74E834C-4153-E3BF-C312-0C9B654668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8ECEF48-62AF-4571-9C4F-4946421D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329247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4. Features of the Designed System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4A1D9E8-DB58-4E7E-9D23-AE94D9E4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819654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1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61E88C4-BFB4-4530-9848-0112E3EF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" y="1843596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Core functionality mapped directly to the project specification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00AA203-DDCF-4B0D-9086-82407F08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36E2A98-4400-468B-9D8D-073FD015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22078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Dynamic Geo-Routing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BC52465-943C-4109-9F7E-D8AB84DA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68258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2dsphere indexes and proximity queries surface nearby food listings to receivers.</a:t>
            </a:r>
            <a:endParaRPr sz="118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B8A144E-82CB-438F-A8F9-6AB7D008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4937A0D-0A9F-4FE8-A799-40D30343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129347"/>
            <a:ext cx="2715768" cy="6032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Perishable Inventory Constraints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1AED383-6679-49FE-BDE9-8D263FFC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568258"/>
            <a:ext cx="2770632" cy="837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Pickup start/end timestamps control availability and expired listings drop out of the active flow.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68149BA-9CC2-47C1-81B6-709AD997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99F2468-8FF7-434E-B9C2-3CABF7CD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22078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Quick Add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B2DD339-114D-410E-8256-F9C9DE71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3" y="2568259"/>
            <a:ext cx="2778217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Fast listing flow for businesses: item, quantity and pickup window.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97533C9-F903-4B7E-9074-A2492BDC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DF0071C-A1F3-4654-8FB6-1CD89A50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Map &amp; Claims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045E4DF-57AF-4E62-B881-BEE8DEF6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42778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NGOs discover local surplus, inspect listing details and claim food for pickup.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A5F036B6-6FDC-4AC2-98B0-E5A153A3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88117BA-7541-402D-80C1-E7EE490E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Lifecycle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459C604-09BF-412C-9E39-FC53E6DF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442779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Claimed → Picked Up state makes collection progress traceable.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AC3ABC93-271A-4C36-B998-996F5B5A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56D56D7-34E0-44CD-A460-B7BF9BD3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Audit &amp; ESG Reporting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9240951-16EC-4D24-95BA-80BA2AC9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442779"/>
            <a:ext cx="2778216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Claims and completed pickups feed food-saved and sustainability metrics.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663011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FC61385-DDE6-025D-E181-A2046FFF07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8134E81-47A2-4014-8B14-CFC7F9E7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509" y="1211580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5. System Architecture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A2637DE-4104-417F-AEB2-84E9F994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696212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1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9E72CDA-448A-4697-A008-D3ABF7D2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11629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Layered web architecture with MongoDB geospatial routing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78492B6-7140-49C8-8FCC-324A4511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00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ADE5506-D1BA-4E52-9B3D-4E3458DF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16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CLIENT LAYER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9BE7172-3FA3-49A3-87B2-84E522B4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16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Next.js + React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Tailwind CSS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0D55BCF-6B34-48D5-A0FD-712A9DD3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52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13FFDCB-AC1F-4C45-B731-D7375EF7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368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API LAYER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37BB1C8-78BA-4224-989B-C00FD69D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368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Node.js + Express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JWT authentication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DBF8598-C97E-4F8F-AA54-1BD7A374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104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8212F44-C246-4701-B390-C8B900AD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19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04C0D12-48AC-429C-B8B3-D277EF18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19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+ Mongoose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Users, listings, claims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A08F9C4-3039-4E9E-AFCA-935CFBDF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856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BD7AD25-370F-413F-8451-FCAFDDB2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872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SPECIALIZED UI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CE89569-2EB5-45D1-AD7E-4B320CA8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872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React Leaflet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Chart.js</a:t>
            </a: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507C4B97-ACFB-4A1B-AE51-136F7442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320" y="2712897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EEF7B288-64D1-494E-B53D-C091346D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072" y="2712897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7FBB9AD7-BB7F-4712-8F63-7F3B9EDB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823" y="2712897"/>
            <a:ext cx="256033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72EB140-A81A-4EF0-9625-26E73AFC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12997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Geospatial routing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F3F89538-0F6F-4DE8-9A58-B8371096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C8208E9-07F2-4C36-9978-CC58383E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location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A6A9ADB-8AA7-4CB5-8503-D530E473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GeoJSON point</a:t>
            </a:r>
          </a:p>
        </p:txBody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C990FABD-8011-461F-B394-97843234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D90B5F2C-FDD2-4FD6-A33E-A6034CC6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1C361BE-635A-4FFF-BCAD-4E810BB4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2dsphere index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6B1E983-1B3A-419A-B9AC-450E8E50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Indexed spatial lookup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6635B57F-C13B-4FDF-8B1D-59B9B271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5BFD21FB-C86E-496C-BFFA-58C50FAD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89C0C2F-10CF-4DF6-B48D-AA815639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$geoNear / proximity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21E168B-E28F-4C09-8821-B4DADBF9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Nearest eligible listings</a:t>
            </a:r>
          </a:p>
        </p:txBody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695ADF0C-E554-4FA9-855F-6618CC4F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E4A0CD98-287B-4EB6-8507-41F099EE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BF2BA16-E041-4907-B37F-087E6607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map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925B8B91-9079-45F8-BEC8-34067165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Distance + pickup window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9330952-2F4A-40F2-BFA0-7374EA45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524677"/>
            <a:ext cx="9875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Result: location-aware discovery without moving complex routing logic into the client.</a:t>
            </a:r>
          </a:p>
        </p:txBody>
      </p:sp>
    </p:spTree>
    <p:extLst>
      <p:ext uri="{BB962C8B-B14F-4D97-AF65-F5344CB8AC3E}">
        <p14:creationId xmlns:p14="http://schemas.microsoft.com/office/powerpoint/2010/main" val="5146768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E158DDF-75B0-FEE8-CF8F-7E5BE60B2F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FE482B-36B6-46E1-B3D9-070F5EDC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69848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6. Donor Workflow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8E30997-21AA-4199-8F25-C7CF5B82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0180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Businesses can publish surplus inventory before closing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999A2AD-842D-42B3-A1FC-660ABFEA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92808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BAD2D36-33DE-4A28-8225-A480B3A7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984248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FAC743A-2127-4B56-91A0-CAE3971B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331720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Business enters donor account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3894AA59-361B-44FF-AA34-4CBF26B9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2514600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AC89F01-F1AC-4CC0-98BB-F9B211C9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34056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951D867-FFD6-479D-B543-CFF1C2E9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825496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1BBD8D7-DA36-4EF9-BCBF-EE84A95D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172968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Views active listings and impact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634789D6-956C-47E3-A3B8-4AE2D337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3355848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F42EBD1-A110-424C-81B4-C33D3E31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75304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DE96315-64B2-425E-872C-FA662662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666744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QUICK ADD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7879ACF-E695-4E35-A413-B9BD9060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014216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Select item + quantity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ECD554E4-3440-459E-8409-CDB59ED3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4197096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C134C18-64C3-4934-A4EC-77752D14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416552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972F858-1D29-4132-BD70-ED259C87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507992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WINDOW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B547777-38AE-4F88-888F-0303858D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855464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Choose start and end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31347EAC-2C2B-4996-9035-5BC72396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5038344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FC69E9BD-0FD8-4FAC-974F-7707794E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57800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E397CB9-0460-42F0-AC77-8C9581CD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349240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5BC36C2-2932-457F-B885-EADD4546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696712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Listing becomes available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71A2F8A1-111B-49DF-B25B-15A9C108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892808"/>
            <a:ext cx="7360920" cy="3611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18EAC02-7E3B-47D5-B07B-2C8CCD2F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984248"/>
            <a:ext cx="7104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What the donor can see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148F4386-E8B3-4C0A-81D7-3008A813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2414016"/>
            <a:ext cx="685800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Food saved and active listing metrics.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A quick-add workflow designed for a busy closing shift.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Listing status: Available / Claimed / Picked Up.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Pickup window shown clearly to receivers.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Past listings remain available for traceability.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2079E9B-2202-4B9A-AE9D-7042421B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5" y="4818888"/>
            <a:ext cx="6857999" cy="826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Primary demonstration: create a surplus listing in a few steps and immediately make it discoverable.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58145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9586A85-F6A6-CEC6-B149-5D39AFF759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3B09693-83FD-431C-89F9-687878F7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96696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7. Receiver Workflow &amp; Location Discovery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6CA569B-0AC9-4FD8-B29F-63ED06AC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841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NGOs use the nearby-food map to decide what to collect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92CCD3B-30A1-4D6B-8660-182526E3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42463"/>
            <a:ext cx="49377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9EF6520-FA27-478D-954C-D01D7AD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07055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LIVE MAP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9F5F1796-76E5-43E9-B34B-BDDD3617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5511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B9E3E959-8758-42E7-880C-682BE21F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3235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4E1CB3DE-B5C5-4C3C-AC04-BEB59DEE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0959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BE5D8265-622F-42EF-863D-0D9AA0F3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8683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F688891F-ED84-4661-BFC2-5D42CC55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2588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72393BDF-3C99-43F1-8207-26DB0A51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46888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114A8927-AD4B-4AD0-88E1-D8AE5D64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5760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71414BF4-5D5A-417A-A3CE-B4805C43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26279" y="2172230"/>
            <a:ext cx="137161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01ADDA07-498A-4959-B558-DC347B9E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66591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B60C897-60E0-4ADF-92FA-19E3875A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84879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88436E4A-E0CA-4351-8CC6-B1A7C5E6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4675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8876559-741C-46F2-B824-C128EAAD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65038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1A8E8A74-67DE-441E-B98C-B8CB5F53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949471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D4D99D4-2126-4C6B-8E8D-1529E28A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967759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DAB91FB-19A0-4F70-8D3F-74FA6231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16015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339C6F"/>
                </a:solidFill>
                <a:latin typeface="Aptos"/>
                <a:ea typeface="Aptos"/>
                <a:cs typeface="Aptos"/>
              </a:rPr>
              <a:t>Receiver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DD2613E1-C5CC-419E-9B8E-01945BFD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74246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4AC6F3E-3F75-451F-B991-B6C7F223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183390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Nearby listing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197F438D-91A0-4459-9289-56879C88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18137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FreshBakes Bakery • 50 Croissants • 1.8 km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8121DDA7-EF37-4480-AC43-CFE89CAD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97690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16279CD-E374-4BE0-A84A-0A802A9B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06834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window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9C4CBB5-51F3-4069-9EB0-3D0EE09C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41581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19:00–21:00 • Available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4F52214E-A72D-4825-A18F-C11E8591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21134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CAB9236-4D25-4A25-9755-76F49711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430278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F3256C5-3471-4DF8-AB48-CEEA8277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465025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View details → Claim → Pick up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CC0E5A0E-D99F-4D2D-AAD6-F9958ABE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428142"/>
            <a:ext cx="5922335" cy="701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The platform tells the NGO what is available and where it is; the claim/pickup lifecycle then records completion.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28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982749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ACA2E1-6BAB-F6C0-3C2E-98CD424050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82D5022-EA8A-48D5-AB9D-D203BFBF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7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8. Admin &amp; ESG Reporting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FA2D9E0-D490-4F8E-84F5-A81292DC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9105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Platform oversight plus measurable sustainability impact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096E52F-30CD-453C-BF87-AD20AFF2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390"/>
            <a:ext cx="507492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F520163-F3AB-4284-92C8-517E42E2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75830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Admin operations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8F7EDBF-1BEE-4DF7-98D8-192A424F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310"/>
            <a:ext cx="4526280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Review pending NGO applications.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Verify food-safety documentation.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Monitor active listings and claims.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Track platform-wide food rescued.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Maintain an auditable record of activity.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0A6C55D-C901-4890-A643-86C59E75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84390"/>
            <a:ext cx="457200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40E5321-7CA5-403F-A876-71CE408E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5" y="2075830"/>
            <a:ext cx="4315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ESG dashboard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9B7784E-66A1-429F-8E1A-A8D68AAF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C8F41B2-460A-4280-9102-01C1E79F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1,284 kg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25EFF23-D742-4BD0-ABD9-925DC85E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 rescued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20830D2-DFD2-449B-99A3-1202FDA9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C8FFAF2-DDA8-4C01-897B-4C1D4534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146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984529E-FE00-4374-BB0A-90C8E443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Pickups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48BBD40-824C-482C-86E3-A82FDDDA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D1E522D-E93D-4201-8229-46848BCA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05F0F3E-AB5E-4A53-8D04-5C0B4ED8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Verified NGOs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5350DBF-EF41-47DE-AE2D-DA633013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72175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585858"/>
                </a:solidFill>
                <a:latin typeface="Aptos"/>
                <a:ea typeface="Aptos"/>
                <a:cs typeface="Aptos"/>
              </a:rPr>
              <a:t>Illustrative reporting dimensions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88F97BA-5798-4A21-9547-F380888B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0783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 rescued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2193C95-7B8A-4749-B269-20C2EFF9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096654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A52B02B-B6CA-43C3-A3C6-51F9BA99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096654"/>
            <a:ext cx="214518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AA8C300-8998-431E-B1DC-B68B7211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5355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CO₂ avoided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E99C982-311E-4887-9FA6-CC7042EC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53853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1CD6A05-5E3E-40C8-932D-B9CA041E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53853"/>
            <a:ext cx="172547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9C6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1755E65C-FFC6-49C5-A25D-B4729748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9927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Completed claims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0A32263-5093-4F98-B437-07D5C147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011053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2A6EE2C9-8FBA-4576-AEBC-2BB45BD8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011053"/>
            <a:ext cx="1538935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B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FE0D5FC-147C-4B72-A7B1-DB768B10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944" y="5632846"/>
            <a:ext cx="4362824" cy="6971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27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Claims and completed pickups create the evidence trail behind impact reporting.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27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507288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1549C5A-B25F-2522-03E9-5862B8258D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A07073-1ABD-48CC-A4CA-4F228DD0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21043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9. Technology Stack &amp; Data Model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0443604-4C22-4A12-B210-6E8B8F1A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98232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Why the chosen stack fits the problem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B8EE18D-9CC6-4EB2-9A90-D2DB3F06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36560"/>
            <a:ext cx="29260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F38E160-F52E-4244-88B2-497D7DCF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128000"/>
            <a:ext cx="2670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F3B5522-4C1A-44F9-BEB4-0CDA217E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475472"/>
            <a:ext cx="26700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Next.js • React • Tailwind CSS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BB54700-40F3-462E-A44B-2501AB12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2036560"/>
            <a:ext cx="29260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1176624-5B1A-496F-A511-D72726C6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2128000"/>
            <a:ext cx="2670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E192E1F-43CC-47EF-9B9A-9C3E79F5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2475472"/>
            <a:ext cx="26700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Node.js • Express • JWT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03F3263-52E6-4A18-A39F-FA72ED78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036560"/>
            <a:ext cx="34747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D119157-AC1C-4722-BD75-0C58C780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12800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Data &amp; Visualization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6E16EF3-CC75-40A0-B6C5-6566BF2D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475472"/>
            <a:ext cx="3218687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• Mongoose • Leaflet • Chart.js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CF2EA05-BC7B-4CFC-A8FF-8090CD57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53880"/>
            <a:ext cx="2103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Core entities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3531711-5688-4289-9795-21511D2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AEC2854-5FE7-4B81-AE03-0A9AFF68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8DFD48F-B9AF-42C6-81F1-742014A7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Donor / NGO / Admin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F6CC0A65-FD52-4DE3-AB78-052AA413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5FBE779-D17C-49FD-AAE7-B1B72631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Listing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B07D0C3-B775-40BC-A615-CE1770CE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+ quantity + pickup window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81E64920-DAB3-4911-A86D-DDA15849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302D416-CDAE-4344-95E7-1874E5D0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5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6C4CBDC-6BB8-43D3-BD7B-E8177C7B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5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Receiver + listing + status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F55F8F5B-2F85-4E9F-B645-E163BA29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64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B1BABDB-5C1E-40D7-88B8-B4C47B69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05408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AuditLog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C8F03BF-0DE9-4966-9B46-54E84378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40155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Traceability of key actions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CE0449B6-3EC2-4F26-83D8-5D74144B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96264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85E82FF-0763-48CD-8BD8-A4961847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505408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DCBBFFE3-04AD-4F6C-8A19-2C843FD3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540155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classification</a:t>
            </a:r>
          </a:p>
        </p:txBody>
      </p:sp>
      <p:sp>
        <p:nvSpPr>
          <p:cNvPr id="3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1820AB9D-1A65-ADBC-4063-AF64AAAC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514" y="4958387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MongoDB geospatial layer</a:t>
            </a:r>
          </a:p>
          <a:p xmlns:a="http://schemas.openxmlformats.org/drawingml/2006/main">
            <a:pPr algn="ctr">
              <a:buNone/>
            </a:pPr>
            <a:r>
              <a:rPr sz="1060">
                <a:solidFill>
                  <a:srgbClr val="2C2C2C"/>
                </a:solidFill>
                <a:latin typeface="Aptos"/>
                <a:ea typeface="Aptos"/>
                <a:cs typeface="Aptos"/>
              </a:rPr>
              <a:t>2dsphere index → proximity query → nearby receiver discovery</a:t>
            </a:r>
          </a:p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5395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A4C736-3391-C581-2493-C16DC8045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A290CB7-00D4-4E5D-BCB3-2343BE39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24128"/>
            <a:ext cx="3854641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10. Latest Implementation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959BB91-42BF-401B-9397-B22A9FDD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93" y="1427367"/>
            <a:ext cx="3848290" cy="3154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Recent product, integration and presentation updates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19D3F8D9-88AF-43CC-9FB9-DDCD6ED1AECF}"/>
              </a:ext>
            </a:extLst>
          </p:cNvPr>
          <p:cNvGraphicFramePr/>
          <p:nvPr/>
        </p:nvGraphicFramePr>
        <p:xfrm>
          <a:off xmlns:a="http://schemas.openxmlformats.org/drawingml/2006/main" x="743429" y="1766598"/>
          <a:ext xmlns:a="http://schemas.openxmlformats.org/drawingml/2006/main" cx="10058400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754880"/>
                <a:gridCol w="1737360"/>
              </a:tblGrid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Latest implementation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Homepage &amp; design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India-focused NGO homepage; credited community imagery, warm palette, responsive Bootstrap 5 grid and clearer primary actions.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Built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Role-based journeys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Next.js App Router and shared JWT auth support donor, receiver and admin sign-in, registration and role-specific screens.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Built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API &amp; security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Express health, auth, listings, claims, admin and reports routes; Bearer-token verification and role guards protect actions.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Wired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Geo discovery &amp;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Mongoose models; GeoJSON 2dsphere + $geoNear; nearby listings appear in both the receiver list and Leaflet map markers.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Wired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Pickup, ESG &amp; Figma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Scrollable pickup modal layers above the map; completed weights feed 2.5× CO₂e reporting. Existing Figma screens/motion and visual defects were refined.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Refined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19B6D3E-72E9-451D-8D08-E26B9A8C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3198"/>
            <a:ext cx="10143461" cy="3459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Laptop demo requires MongoDB, the API on :5000 and the web app on :3000; phone/LAN access is not yet verified.</a:t>
            </a:r>
          </a:p>
        </p:txBody>
      </p:sp>
    </p:spTree>
    <p:extLst>
      <p:ext uri="{BB962C8B-B14F-4D97-AF65-F5344CB8AC3E}">
        <p14:creationId xmlns:p14="http://schemas.microsoft.com/office/powerpoint/2010/main" val="18466391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A4C736-3391-C581-2493-C16DC8045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A290CB7-00D4-4E5D-BCB3-2343BE39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24128"/>
            <a:ext cx="4373753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11. Integration &amp; Demo Check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959BB91-42BF-401B-9397-B22A9FDD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93" y="1427367"/>
            <a:ext cx="6659753" cy="3154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Implemented pathways are in place; live end-to-end checks require the local API and database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19D3F8D9-88AF-43CC-9FB9-DDCD6ED1AECF}"/>
              </a:ext>
            </a:extLst>
          </p:cNvPr>
          <p:cNvGraphicFramePr/>
          <p:nvPr/>
        </p:nvGraphicFramePr>
        <p:xfrm>
          <a:off xmlns:a="http://schemas.openxmlformats.org/drawingml/2006/main" x="743429" y="1766598"/>
          <a:ext xmlns:a="http://schemas.openxmlformats.org/drawingml/2006/main" cx="10058400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754880"/>
                <a:gridCol w="1737360"/>
              </a:tblGrid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Flow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Behavior covered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state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Donor login + Quick Add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JWT sign-in; donor-only listing creation with a pickup window.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Implemented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Receiver discovery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Nearby API results are rendered in the list and as location-based map markers.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Implemented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Claim workflow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Receiver claim checks availability and assigns an available listing atomically.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Pickup workflow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Authorized completion updates claim state and records an audit event.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Admin + ESG reports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Role-guarded admin and report routes aggregate completed pickup weight.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19B6D3E-72E9-451D-8D08-E26B9A8C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3198"/>
            <a:ext cx="10143461" cy="13034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Result: an end-to-end website prototype demonstrates the donor → routing → receiver → pickup → reporting lifecycle.</a:t>
            </a:r>
          </a:p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Access 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Github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 repo for code : 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  <a:hlinkClick xmlns:r="http://schemas.openxmlformats.org/officeDocument/2006/relationships" r:id="R6ccb4d3066294fc7"/>
              </a:rPr>
              <a:t>Hyperlink</a:t>
            </a:r>
            <a:b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</a:b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466391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1D40BE4-3DE0-9001-00CD-44961C2F3F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01D04B-2782-4152-A6C1-7201A7BC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42416"/>
            <a:ext cx="4135628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12. Conclusion &amp; References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4C17E93-587D-4A5D-BF2F-550B9633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68853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FoodBridge provides a practical digital bridge between surplus and community need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C8F747A-2149-4665-B93A-59B78AC7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07181"/>
            <a:ext cx="507492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89D4344-ABFC-445B-93DA-282E68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98621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55CB27F-B8B4-408A-A430-523C825F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310100"/>
            <a:ext cx="4709160" cy="1607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Makes surplus food visible before its pickup window expires.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Uses location-aware discovery to reduce coordination friction.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Provides role-based workflows for donors, receivers and admins.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Tracks claims and pickups so impact can be reported.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Creates a foundation for future alerts, optimization and scale.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44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D9C1286-F24D-4DA3-8ED9-7C4B2F62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807181"/>
            <a:ext cx="466344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1F8A080-3222-4C7E-93F2-6CD250E5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1898621"/>
            <a:ext cx="440740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EF16693-BD47-4A7C-B976-810AFEEA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64380"/>
            <a:ext cx="3844066" cy="1835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Somaiya WPL Mini Project Rubrics &amp; PPT Guidelines.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Next.js Documentation — nextjs.org/docs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MongoDB Documentation — mongodb.com/docs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Mongoose Documentation — mongoosejs.com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React Leaflet — react-leaflet.js.org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Chart.js Documentation — chartjs.org/docs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UN Sustainable Development Goals — sdgs.un.org/goals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8497682-AA67-4AD3-84DE-93ABBA71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28789"/>
            <a:ext cx="9692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82845021"/>
      </p:ext>
    </p:extLst>
  </p:cSld>
</p:sld>
</file>

<file path=ppt/theme/theme1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2026-10-21T20:15:54.1990000Z</dcterms:created>
  <dcterms:modified xsi:type="dcterms:W3CDTF">2026-10-21T20:15:54.1990000Z</dcterms:modified>
</coreProperties>
</file>