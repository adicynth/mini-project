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5e026e91d4714" /><Relationship Type="http://schemas.openxmlformats.org/officeDocument/2006/relationships/extended-properties" Target="/docProps/app.xml" Id="R8945e3ee175846a9" /><Relationship Type="http://schemas.openxmlformats.org/officeDocument/2006/relationships/officeDocument" Target="/ppt/presentation.xml" Id="R40401cc50a5e4f7c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84c1ffb943145f2"/>
  </p:sldMasterIdLst>
  <p:notesMasterIdLst>
    <p:notesMasterId xmlns:r="http://schemas.openxmlformats.org/officeDocument/2006/relationships" r:id="R5ad02b152344442f"/>
  </p:notesMasterIdLst>
  <p:sldIdLst>
    <p:sldId xmlns:r="http://schemas.openxmlformats.org/officeDocument/2006/relationships" id="256" r:id="R7b4930c0eec54e0a"/>
    <p:sldId xmlns:r="http://schemas.openxmlformats.org/officeDocument/2006/relationships" id="257" r:id="Rbaafafc3379b4dcd"/>
    <p:sldId xmlns:r="http://schemas.openxmlformats.org/officeDocument/2006/relationships" id="258" r:id="Rdf6a3aad9eae437b"/>
    <p:sldId xmlns:r="http://schemas.openxmlformats.org/officeDocument/2006/relationships" id="259" r:id="Rfc240e2a372d476a"/>
    <p:sldId xmlns:r="http://schemas.openxmlformats.org/officeDocument/2006/relationships" id="260" r:id="Rf3da87e2e9ed46fe"/>
    <p:sldId xmlns:r="http://schemas.openxmlformats.org/officeDocument/2006/relationships" id="261" r:id="R708cb6dffae94a93"/>
    <p:sldId xmlns:r="http://schemas.openxmlformats.org/officeDocument/2006/relationships" id="262" r:id="R7c82356816ee4b1a"/>
    <p:sldId xmlns:r="http://schemas.openxmlformats.org/officeDocument/2006/relationships" id="263" r:id="R00d054ac93a1439b"/>
    <p:sldId xmlns:r="http://schemas.openxmlformats.org/officeDocument/2006/relationships" id="264" r:id="R8b332cb194424996"/>
    <p:sldId xmlns:r="http://schemas.openxmlformats.org/officeDocument/2006/relationships" id="265" r:id="R96821173113b4c8b"/>
    <p:sldId xmlns:r="http://schemas.openxmlformats.org/officeDocument/2006/relationships" id="266" r:id="R288b9f99ae844585"/>
    <p:sldId xmlns:r="http://schemas.openxmlformats.org/officeDocument/2006/relationships" id="267" r:id="R1ad9cb4f8a7047be"/>
    <p:sldId xmlns:r="http://schemas.openxmlformats.org/officeDocument/2006/relationships" id="268" r:id="Rf84b3e9e0b934191"/>
  </p:sldIdLst>
  <p:sldSz cx="12192000" cy="6858000"/>
  <p:notesSz cx="6858000" cy="9144000"/>
  <p:embeddedFontLst>
    <p:embeddedFont>
      <p:font typeface="Fira Sans"/>
      <p:regular xmlns:r="http://schemas.openxmlformats.org/officeDocument/2006/relationships" r:id="Re1ae301ddd474923"/>
      <p:bold xmlns:r="http://schemas.openxmlformats.org/officeDocument/2006/relationships" r:id="R2c8941556a3b4f98"/>
      <p:italic xmlns:r="http://schemas.openxmlformats.org/officeDocument/2006/relationships" r:id="R81f9cea5eb42463e"/>
      <p:boldItalic xmlns:r="http://schemas.openxmlformats.org/officeDocument/2006/relationships" r:id="R1adb7dc76c9747ff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151d21e634a88" /><Relationship Type="http://schemas.openxmlformats.org/officeDocument/2006/relationships/slideMaster" Target="/ppt/slideMasters/slideMaster1.xml" Id="Re84c1ffb943145f2" /><Relationship Type="http://schemas.openxmlformats.org/officeDocument/2006/relationships/notesMaster" Target="/ppt/notesMasters/notesMaster1.xml" Id="R5ad02b152344442f" /><Relationship Type="http://schemas.openxmlformats.org/officeDocument/2006/relationships/presProps" Target="/ppt/presProps.xml" Id="R81434d6748a844b9" /><Relationship Type="http://schemas.openxmlformats.org/officeDocument/2006/relationships/viewProps" Target="/ppt/viewProps.xml" Id="R17d780cf017a4854" /><Relationship Type="http://schemas.openxmlformats.org/officeDocument/2006/relationships/tableStyles" Target="/ppt/tableStyles.xml" Id="R195a30bc20c34f4a" /><Relationship Type="http://schemas.openxmlformats.org/officeDocument/2006/relationships/font" Target="/ppt/fonts/font.dat" Id="Re1ae301ddd474923" /><Relationship Type="http://schemas.openxmlformats.org/officeDocument/2006/relationships/font" Target="/ppt/fonts/font2.dat" Id="R2c8941556a3b4f98" /><Relationship Type="http://schemas.openxmlformats.org/officeDocument/2006/relationships/font" Target="/ppt/fonts/font3.dat" Id="R81f9cea5eb42463e" /><Relationship Type="http://schemas.openxmlformats.org/officeDocument/2006/relationships/font" Target="/ppt/fonts/font4.dat" Id="R1adb7dc76c9747ff" /><Relationship Type="http://schemas.openxmlformats.org/officeDocument/2006/relationships/slide" Target="/ppt/slides/slide1.xml" Id="R7b4930c0eec54e0a" /><Relationship Type="http://schemas.openxmlformats.org/officeDocument/2006/relationships/slide" Target="/ppt/slides/slide2.xml" Id="Rbaafafc3379b4dcd" /><Relationship Type="http://schemas.openxmlformats.org/officeDocument/2006/relationships/slide" Target="/ppt/slides/slide3.xml" Id="Rdf6a3aad9eae437b" /><Relationship Type="http://schemas.openxmlformats.org/officeDocument/2006/relationships/slide" Target="/ppt/slides/slide4.xml" Id="Rfc240e2a372d476a" /><Relationship Type="http://schemas.openxmlformats.org/officeDocument/2006/relationships/slide" Target="/ppt/slides/slide5.xml" Id="Rf3da87e2e9ed46fe" /><Relationship Type="http://schemas.openxmlformats.org/officeDocument/2006/relationships/slide" Target="/ppt/slides/slide6.xml" Id="R708cb6dffae94a93" /><Relationship Type="http://schemas.openxmlformats.org/officeDocument/2006/relationships/slide" Target="/ppt/slides/slide7.xml" Id="R7c82356816ee4b1a" /><Relationship Type="http://schemas.openxmlformats.org/officeDocument/2006/relationships/slide" Target="/ppt/slides/slide8.xml" Id="R00d054ac93a1439b" /><Relationship Type="http://schemas.openxmlformats.org/officeDocument/2006/relationships/slide" Target="/ppt/slides/slide9.xml" Id="R8b332cb194424996" /><Relationship Type="http://schemas.openxmlformats.org/officeDocument/2006/relationships/slide" Target="/ppt/slides/slide10.xml" Id="R96821173113b4c8b" /><Relationship Type="http://schemas.openxmlformats.org/officeDocument/2006/relationships/slide" Target="/ppt/slides/slide11.xml" Id="R288b9f99ae844585" /><Relationship Type="http://schemas.openxmlformats.org/officeDocument/2006/relationships/slide" Target="/ppt/slides/slide12.xml" Id="R1ad9cb4f8a7047be" /><Relationship Type="http://schemas.openxmlformats.org/officeDocument/2006/relationships/slide" Target="/ppt/slides/slide13.xml" Id="Rf84b3e9e0b93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48924208bc4c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274913fc3641a1" /><Relationship Type="http://schemas.openxmlformats.org/officeDocument/2006/relationships/notesMaster" Target="/ppt/notesMasters/notesMaster1.xml" Id="R947d4890923d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ab357b0b614ecd" /><Relationship Type="http://schemas.openxmlformats.org/officeDocument/2006/relationships/notesMaster" Target="/ppt/notesMasters/notesMaster1.xml" Id="Rb6bd53995e7947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968b7f87a6453c" /><Relationship Type="http://schemas.openxmlformats.org/officeDocument/2006/relationships/notesMaster" Target="/ppt/notesMasters/notesMaster1.xml" Id="R13b73100dc464a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1679d53e164a68" /><Relationship Type="http://schemas.openxmlformats.org/officeDocument/2006/relationships/notesMaster" Target="/ppt/notesMasters/notesMaster1.xml" Id="R757253adb2fe42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8139310b374624" /><Relationship Type="http://schemas.openxmlformats.org/officeDocument/2006/relationships/notesMaster" Target="/ppt/notesMasters/notesMaster1.xml" Id="Ref7bacfcdd0044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8111f7fbcf4819" /><Relationship Type="http://schemas.openxmlformats.org/officeDocument/2006/relationships/notesMaster" Target="/ppt/notesMasters/notesMaster1.xml" Id="Rceb937738b1f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1464106cc647de" /><Relationship Type="http://schemas.openxmlformats.org/officeDocument/2006/relationships/notesMaster" Target="/ppt/notesMasters/notesMaster1.xml" Id="Rb3e054daae5f40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7edb07ec8440f" /><Relationship Type="http://schemas.openxmlformats.org/officeDocument/2006/relationships/notesMaster" Target="/ppt/notesMasters/notesMaster1.xml" Id="R20d62f8e01a142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e1dea6ceb74a6f" /><Relationship Type="http://schemas.openxmlformats.org/officeDocument/2006/relationships/notesMaster" Target="/ppt/notesMasters/notesMaster1.xml" Id="R62c0638cdc0243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305f7fcc664ad4" /><Relationship Type="http://schemas.openxmlformats.org/officeDocument/2006/relationships/notesMaster" Target="/ppt/notesMasters/notesMaster1.xml" Id="Rc9ef6c690c284d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c6b8fbdeba44a0" /><Relationship Type="http://schemas.openxmlformats.org/officeDocument/2006/relationships/notesMaster" Target="/ppt/notesMasters/notesMaster1.xml" Id="R9772bdbfee8049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91a64a12014007" /><Relationship Type="http://schemas.openxmlformats.org/officeDocument/2006/relationships/notesMaster" Target="/ppt/notesMasters/notesMaster1.xml" Id="R2ecddf4b2f784a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b87367c6684977" /><Relationship Type="http://schemas.openxmlformats.org/officeDocument/2006/relationships/notesMaster" Target="/ppt/notesMasters/notesMaster1.xml" Id="R3b05823ea1304e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IMPLEMENTATION — 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and visual system: the public homepage was refocused on surplus-food rescue and NGO/receiver audiences in India. Credited community/NGO and food photography, a new warm palette, Bootstrap 5 responsive grid utilities and clearer calls to action replace the earlier visual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Frontend journeys: Next.js App Router pages use shared authentication state and role-aware navigation for donor, receiver and admin roles. The API client reads NEXT_PUBLIC_API_URL (default http://localhost:5000/api) and attaches JWT Bearer tokens. Donor flows create listings; receiver flows discover and claim surplus; admin flows support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 integration: Express mounts health, auth, listings, claims, admin and reports route families. Authentication verifies JWTs, and requireRole guards role-specific actions. Mongoose persists users, listings, claims, categories and audit logs. The health endpoint is /api/health.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Location and pickup: listings store GeoJSON Point coordinates as [longitude, latitude] and use a 2dsphere index. Nearby discovery uses MongoDB $geoNear rather than arithmetic distance. Receiver results are represented in both the list and Leaflet map. Listing details use a scrollable modal layered above the map. Claiming is atomic; pickup completion records an audit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and design delivery: completed pickup weight feeds reports using 1 kg of rescued food = 2.5 kg CO₂e avoided (meal equivalent: 2 meals/kg). The existing FoodBridge Figma file/page was updated; recent polish corrected bullet alignment, organization initials, form labels and palette swatches, and added prototype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demo: MongoDB is expected at mongodb://127.0.0.1:27017/foodbridge. Start the backend with npm run dev from backend, then start the frontend with npm run dev from frontend; defaults are API port 5000 and web port 3000. Open the frontend on the laptop after confirming /api/health. Phone/LAN access has not been verified and requires matching network reachability, firewall access and a LAN-reachable API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note: statuses describe implemented UI/routes, not a claim that every service was running during this deck update. The API depends on MongoDB at mongodb://127.0.0.1:27017/foodbridge. Check http://localhost:5000/api/health, run the backend from backend with npm run dev, then the frontend from frontend with npm run dev. The browser should use the laptop's frontend at http://localhost:3000. Phone/LAN access is still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620a4f0cd4f89" /></Relationships>
</file>

<file path=ppt/slideLayouts/slideLayout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7BDDD05A-D2D5-4B25-9991-3E6968956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3C05FEBC-7D2D-4F68-AD79-BBB5014385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4F307F5C-21CF-4FB5-9EE8-E93E972159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98941" y="6492875"/>
            <a:ext cx="4930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C946A9-B111-4809-B6BF-72CFEA8F1E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0b21b9718de4805" /><Relationship Type="http://schemas.openxmlformats.org/officeDocument/2006/relationships/image" Target="/ppt/media/image2.png" Id="R86f0690e18e74096" /><Relationship Type="http://schemas.openxmlformats.org/officeDocument/2006/relationships/image" Target="/ppt/media/image3.png" Id="Re6b461ec0fcc4c43" /><Relationship Type="http://schemas.openxmlformats.org/officeDocument/2006/relationships/image" Target="/ppt/media/image4.png" Id="Re8e2abcbc4994350" /><Relationship Type="http://schemas.openxmlformats.org/officeDocument/2006/relationships/theme" Target="/ppt/slideMasters/theme/theme2.xml" Id="Rdf66def9acc54824" /><Relationship Type="http://schemas.openxmlformats.org/officeDocument/2006/relationships/slideLayout" Target="/ppt/slideLayouts/slideLayout1.xml" Id="Rcae2cae3a6cc42e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D3494EF9-C8DE-4E36-870B-64D976DE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57" y="294320"/>
            <a:ext cx="9129486" cy="7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A197ED8B-1716-4A49-B475-5845CF2FA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b21b9718de48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5897008" y="589313"/>
            <a:ext cx="385984" cy="1220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A3DC8FD8-7566-48CD-91A1-44301540F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f0690e18e740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4564844" y="1740546"/>
            <a:ext cx="176409" cy="9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DF8BC95A-19DE-4638-B218-CC56CD767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b461ec0fcc4c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6462" y="220820"/>
            <a:ext cx="968545" cy="721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91A6DEA-B20A-4DE8-B0FD-F07701D2BB6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90734" y="6519180"/>
            <a:ext cx="72244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1F3BA28-8529-4726-BB58-E01C838EBA8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6104992-04D0-4A83-AE25-31A5844FA4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2abcbc499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152" y="260407"/>
            <a:ext cx="1982116" cy="648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2cae3a6cc42e6"/>
  </p:sldLayoutIdLst>
  <p:hf hd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7871b018247ba" /><Relationship Type="http://schemas.openxmlformats.org/officeDocument/2006/relationships/notesSlide" Target="/ppt/notesSlides/notesSlide1.xml" Id="R85aac0e4fef8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41f8883f041c1" /><Relationship Type="http://schemas.openxmlformats.org/officeDocument/2006/relationships/notesSlide" Target="/ppt/notesSlides/notesSlide2.xml" Id="R6b3dab91fe7d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53e88414d401d" /><Relationship Type="http://schemas.openxmlformats.org/officeDocument/2006/relationships/notesSlide" Target="/ppt/notesSlides/notesSlide3.xml" Id="R6cb889403c9443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22b5587334f1b" /><Relationship Type="http://schemas.openxmlformats.org/officeDocument/2006/relationships/notesSlide" Target="/ppt/notesSlides/notesSlide4.xml" Id="Rb83092210802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316095ea24e61" /><Relationship Type="http://schemas.openxmlformats.org/officeDocument/2006/relationships/notesSlide" Target="/ppt/notesSlides/notesSlide5.xml" Id="R80dfc6a8d2414c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15c370e5444a9" /><Relationship Type="http://schemas.openxmlformats.org/officeDocument/2006/relationships/notesSlide" Target="/ppt/notesSlides/notesSlide6.xml" Id="R8dfc13e74137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0b503fbbf4356" /><Relationship Type="http://schemas.openxmlformats.org/officeDocument/2006/relationships/notesSlide" Target="/ppt/notesSlides/notesSlide7.xml" Id="R8eef485e326b4b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f7af4c9354ab4" /><Relationship Type="http://schemas.openxmlformats.org/officeDocument/2006/relationships/notesSlide" Target="/ppt/notesSlides/notesSlide8.xml" Id="Rc90d69c0d43445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25b6654f749d7" /><Relationship Type="http://schemas.openxmlformats.org/officeDocument/2006/relationships/notesSlide" Target="/ppt/notesSlides/notesSlide9.xml" Id="R7a21db5eec8b4d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f1727d09745fa" /><Relationship Type="http://schemas.openxmlformats.org/officeDocument/2006/relationships/notesSlide" Target="/ppt/notesSlides/notesSlide10.xml" Id="R2d8cbb67df8f46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170fe15b44fda" /><Relationship Type="http://schemas.openxmlformats.org/officeDocument/2006/relationships/notesSlide" Target="/ppt/notesSlides/notesSlide11.xml" Id="Ra13a0d0b7ea14a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ce71b8c7a4237" /><Relationship Type="http://schemas.openxmlformats.org/officeDocument/2006/relationships/hyperlink" Target="https://github.com/AdiCynth/Mini-Project.git" TargetMode="External" Id="R4ba08fe6c31e4997" /><Relationship Type="http://schemas.openxmlformats.org/officeDocument/2006/relationships/notesSlide" Target="/ppt/notesSlides/notesSlide12.xml" Id="R5aa720bf218448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1b11350a04c21" /><Relationship Type="http://schemas.openxmlformats.org/officeDocument/2006/relationships/notesSlide" Target="/ppt/notesSlides/notesSlide13.xml" Id="R681692f6c05949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06A0446-3040-4EA5-B301-E00332996B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407FE0E-58B8-4FF9-B157-4CD06F1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9509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DB38C4-5164-4770-94C5-E5EFD88D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8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A Geo-Routed Surplus Food Redistribution Platform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5C7EE60-0C2B-4C62-BEAD-53A29335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61488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WPL Mini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FFAF936-9373-4FC2-92B7-2D76FC38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1868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K. J. Somaiya College of Engineering, Mumbai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D330389-B744-475C-9047-52BB4F81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627" y="3675887"/>
            <a:ext cx="2556982" cy="3262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 Prepared by: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32BE81A-D459-45B8-A04E-D6E23152F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80966F-BB0D-41BF-B30B-517F9880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1. Problem Statement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4F7C34-83E9-4D9C-BEEA-65A8F47B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32204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surplus food needs a digital bridge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98F7155-B3CB-475F-B2F6-4E38AECD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D830D29-7E75-4FB3-8CB1-F878A0C5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Current challenge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A63476-E987-4F31-A415-BE8E9849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1" y="3411226"/>
            <a:ext cx="4818887" cy="734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C2C2C"/>
                </a:solidFill>
                <a:latin typeface="Aptos"/>
                <a:ea typeface="Aptos"/>
                <a:cs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4EF7391-EAB3-4F79-A10C-47FE08C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46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D7BEF49-4AF7-438E-A069-3A09E3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Operational gaps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206337-D8F4-4CB3-8C89-1EF672FF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3334766"/>
            <a:ext cx="4818888" cy="2898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No real-time visibility of nearby receivers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Pickup windows are time-sensitive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Manual coordination causes delays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Little traceability for food rescued and ESG reporting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88AC819-1BCB-4083-9A9D-9D6F59BF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5721350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62A58E-FE7A-4D27-90C5-41090AF5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88135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2. Proposed Solution &amp; Objectives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184AA59-88F2-401A-9E84-E1F6C9DD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333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</a:t>
            </a: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connects surplus, location and accountability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CDE9B05-81D8-45A7-8D58-80AF486D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190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9D62905-A55B-4B08-9B09-3F24CF3A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44DDB91-F96C-40C7-B549-243D572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Lists surplus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277C132-49E4-4926-8E5D-464FB6B7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3A2A68-278E-4244-A06F-8BCB0E2A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5282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055C05-D67F-46FD-A7CF-21AC102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305D516-50C5-4E42-9F1D-AF9AB7AB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Matches nearby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eligible receivers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21EA2CF2-7ED5-400D-9A44-1EF275D7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984402F-55C2-4E77-B321-58B2975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8830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6517CAE-2447-4E75-B327-3E1A4293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NGO / FOOD BANK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B691CC4-2F95-4708-A937-FD87969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collects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0FEC5A1F-A346-457C-9D66-A16056D4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3C55D85-8A1C-48EA-A969-2C35D827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416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2A6FEEC-8D60-4CF1-8DB9-EEC28891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72D5AF2-668F-4334-B9E9-24A2EA9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Records rescued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&amp; metrics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DE1F451-3CFA-43C8-80B3-8442A609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Key objectives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D88F7FC-D5E8-4480-A0AA-410B0D0B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96512"/>
            <a:ext cx="10058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Reduce edible food sent to landfill.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Use location-aware discovery to minimize pickup distance.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Enforce pickup windows for perishable inventory.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619D024-4DF4-4C90-8F45-6A07BB34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706380-BB05-49CA-B9DD-0298030D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69BDAB1-8522-4D3B-80DF-283F01E1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Responsible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C80D952-0E43-4A44-802F-B9405DC8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FA9D736-DB60-4B6B-AB42-F10429E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466B57-69B2-4F25-A45B-D11C133F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Climate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F5F77C-F9CC-4E0F-A8A3-A48367E8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2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3. Target Users &amp; End-to-End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167D05-0B41-4473-8816-9A969CE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938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Three roles, one traceable redistribution lifecycle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8752A1-8400-4C3D-9A8C-508E586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7D5D56-B7C2-45C2-BB12-7B49AD07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/ SME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00D7612-1307-4843-8620-CBD02CC8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52345"/>
            <a:ext cx="2918566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Restaurant, bakery, caterer or grocery business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875E53C-0344-4AB2-A0F6-F3F2C934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C870EE9-5191-4AAB-B2EB-36D92610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/ NGO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2A9A03-0384-4DC6-BA04-7BBE88F6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7" y="2752345"/>
            <a:ext cx="3026663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Verified food bank or community organization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3F44AD0-DF79-4D56-BA84-F61F80A8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F588F0-1967-44F3-8F1F-DD30B6F2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C65AFF4-4468-46AE-B280-FA454DD7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52345"/>
            <a:ext cx="29900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Vets NGOs and monitors platform health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26F20B53-1FEA-41DD-A3B6-2750CD93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B7BAC06-EAD3-4385-ADC5-14B3D189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80941D0-713C-42DB-B2EF-882A107E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 surplus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6173D05-6BDD-4FBD-A63F-4562B478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Item + quantity + pickup window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3C8933C5-CD5C-41BB-AADF-8C761E22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243EC53C-0F6F-4C58-9BC6-6D3A403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04BCD39-5D99-470D-84FA-14E5A055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E818AE1-BFD6-4E7C-855A-26282DD1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Geo-match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56CE20E-B62A-40D8-9DFB-620D2730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Nearby eligible receivers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C39D53AF-AA37-47CC-A8B0-D0E4E67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9AD3FC3-860D-4AC8-925D-8A63DC02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E2BF0AA-5DA2-4D7D-A278-AEFC27D6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142AC40-3C2F-4126-853A-759565AA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E8C7CFB-6654-4EE5-A20C-79AB34AF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 reserves the listing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98BBF791-1686-42F5-A58C-E172DE9D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0BE80F73-3F28-436F-9196-991519AB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987A28C-8B58-4F69-8CE9-F92F8E4E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E5EC039-A4A0-472E-8413-8609646F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5A9E664-99EA-47B9-B33C-BC5B27F2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Collect before expiry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C2DE9738-7731-4781-93AF-82EFC5B8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215384"/>
            <a:ext cx="438911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EE991A0E-8DC2-4E0B-827B-03E154B9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6E23AFE-2A3A-492F-9B5F-F230D731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632A5CB-49F3-48FF-9D65-FB2D3923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9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93DED4F-7395-4B19-9BF5-0F4BFABB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EF9B3B-4444-4CCD-9603-0F1AD692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32924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4. Features of the Designed System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5FF621F-4FE7-4D54-AF18-1F0FA2D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819654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4A35F5-55E7-4E0B-A038-AFED7A2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" y="1843596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0F29905-5B6D-4828-8146-E07531D0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C1DF18-B43A-4812-8A17-4F92F29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Dynamic Geo-Routing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2B83C4-976B-406B-8E82-4F6C70C1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825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2dsphere indexes and proximity queries surface nearby food listings to receivers.</a:t>
            </a:r>
            <a:endParaRPr sz="118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B9F2684-F3D1-4D84-927B-D81E1736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C633373-136A-4CCD-B008-EE39076B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9347"/>
            <a:ext cx="2715768" cy="603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Perishable Inventory Constraints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FC86FAC-7604-4CDA-8967-BA8EFE36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8258"/>
            <a:ext cx="2770632" cy="837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 start/end timestamps control availability and expired listings drop out of the active flow.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681C6F5-17B5-4493-AF9B-90DDB005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BA614B3-98C0-4D11-A955-9B51DEF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Quick Add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15FAC07-AD6C-4884-8DE7-47CA6A3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3" y="2568259"/>
            <a:ext cx="2778217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Fast listing flow for businesses: item, quantity and pickup window.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76C9240-210A-4582-8DC5-DD15A394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2AB46D-F9B6-4659-8DB4-CD57A992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 &amp; Claims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527E23-BE03-4768-8FB9-C245C197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4277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NGOs discover local surplus, inspect listing details and claim food for pickup.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BC8E2D7-7782-4106-8A6D-F36CB84D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4D8D778-1917-413E-A899-D7FD9C21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Lifecycle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B33FAB0-4197-46BF-8BF4-6131DAD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42779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Claimed → Picked Up state makes collection progress traceable.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27D7D77-BC31-4223-A0C9-FB85F1FE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30BFFEC-60C3-40C1-B5F5-7D4EC5B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 &amp; ESG Reporting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EAE9CB0-DE23-4F5E-A98D-FABB6767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442779"/>
            <a:ext cx="2778216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 completed pickups feed food-saved and sustainability metrics.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42602B-F765-4B42-A62E-06ED301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09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5. System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E98A0-F588-47F3-BC18-DD4A678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6212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4DB609-4333-42B5-B968-46D70A28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11629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Layered web architecture with MongoDB geospatial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B5819B3-F742-49D7-84E1-787404A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0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959C471-4F2A-49EC-97C2-6A48609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CLIENT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2A1B5D-0C2A-4469-A6A7-BB3A3AE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+ React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A1A0463-7728-4301-A0E6-A90F353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52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1BEE28F-73DB-4961-B97E-19396090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33315AB-AA52-419E-8DDD-85A37C0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+ Express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0528EB9-290A-4D67-BB94-5BA772BD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04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AA22DBC-5424-4439-9529-11C1C8C5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ED5F21-4BF9-40BE-BA0A-A4050191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+ Mongoose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Users, listings, claims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C632806-64D1-42E2-8146-D5F290D5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6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E00CE5A-1748-4855-AD9B-B181A1C7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SPECIALIZED UI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63C8CF-16C2-4FC9-B46A-446B28ED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React Leaflet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470D29C3-E3BD-4FAA-AB3D-72E6E3A2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0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B8362131-020D-4A4B-9AFF-8CE8B14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072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B4608C3F-3740-4529-873A-1F52CB7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823" y="2712897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898159A-FC17-496C-B995-49D8E9C2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12997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Geospatial routing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1229262-D5AD-4057-9FC4-E28C1CA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443E5C-C860-4FCE-97A6-2A4CA6B0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location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1303A3B-09C8-4E61-A4F5-23BB608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GeoJSON point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963679EA-DC77-48E3-B3FB-7B5CAC75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A1D5EEE-B4FF-4888-B0B1-ACBC3F15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6862FFC-D4EA-4AD3-B18F-78E1AF4A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2dsphere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47AA501-6FF2-462B-B9E0-84B4BFB0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Indexed spatial lookup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32B1144E-F104-42CD-9052-DB8A9C48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67AA199C-AAF7-49BA-9445-6FA93C56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95470B7-B2E6-412B-B376-578DC638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$geoNear / proximity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8A9EDA-DA71-4918-9A6C-59748A7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Nearest eligible listings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6C831756-BAAA-4A50-B80A-B6DCFBC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B8B6F2E6-3D66-4176-BA54-FBC1CDF0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3A07F64-5960-43B3-9C2F-76340F24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D8DF309-68CE-46A5-AC11-9B919F5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Distance + pickup window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453309A-1D97-468C-9E6E-8BE5743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24677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12D66C-CC3C-4DE6-9B64-3836A8C4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69848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6. Donor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98C08D-09DA-462C-9D88-70507CA2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0180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Businesses can publish surplus inventory before closing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236EA70-82D6-4C6A-A0DA-A1965BBB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8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99F905-EEBD-4000-9CFF-2BA34328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B95EB98-361E-4AFC-93E7-6C43F32A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31720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Business enters donor account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48BF4FAF-2560-4F70-9423-A41005C3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14600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9578A3-39C1-46F3-89EB-787DFAE6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34056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CEEF99-8127-45B5-9122-F2CB8190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DD89CA5-C573-4BC0-A38E-6EEE6DD3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172968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Views active listings and impact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B9886F15-F1FD-44FA-936F-A0CDF6E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355848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15969F9-2533-49C4-AEEE-A7B1D647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75304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C49B783-D994-4E42-8765-1B441B50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6674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QUICK ADD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10C815-7E7C-46F9-BCF0-8D2C55D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14216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Select item + quantity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BC411D9-4749-4857-971A-1F089BC7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197096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DCBD1F0-964D-48B9-A4EC-E96E9F77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16552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823D585-94F2-4A3B-B6E4-2CA27A8D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EA94111-96DE-40A5-8EF3-89B3444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855464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Choose start and end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6BA0D780-DBD9-4F48-B6E8-8D9DF92A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38344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E447DBA-8A1A-4A8E-9EBB-636B26FD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4897E39-F199-4C1B-87D7-FFC33A7D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49240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235288-D0B6-4FE5-890B-26FE9E0F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696712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Listing becomes available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71D7102-26FC-493C-AF37-4D3D485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892808"/>
            <a:ext cx="73609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369CAC3-236E-4CA5-B72B-E48DDEA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84248"/>
            <a:ext cx="7104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What the donor can see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11E6785-91FC-46E2-8647-9F87C69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414016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Food saved and active listing metrics.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A quick-add workflow designed for a busy closing shift.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Listing status: Available / Claimed / Picked Up.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Pickup window shown clearly to receivers.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F3D8BE-831D-4C08-8FF2-FE1A13DC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5" y="4818888"/>
            <a:ext cx="6857999" cy="82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Primary demonstration: create a surplus listing in a few steps and immediately make it discoverable.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6575254-A574-485A-8368-2F1C371B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96696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7. Receiver Workflow &amp; Location Discovery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2B33C6-5D90-43CC-9260-F24CAF7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841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NGOs use the nearby-food map to decide what to collect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D4D073-8103-4CC9-8CB7-162E0FDA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42463"/>
            <a:ext cx="49377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45A4D30-2F4B-4B77-AE2E-D6DD4AB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7055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LIVE MAP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E5036722-9567-4E33-93FC-CACC4181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511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4A8EAD19-7587-43DE-9B30-506A7051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3235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B91BB511-54F1-459A-BF58-2434B5E7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0959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017869B0-5D9A-4D25-8327-FAB6EDCA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683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3DE5B28B-6461-4E29-8EC3-490E24D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ECBB9B63-EF9D-4B55-801D-015BEA69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68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491187D8-8F91-4827-A290-3BAD7FB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5760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124E6D5D-E9E4-4A68-B966-BE5BE630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6279" y="2172230"/>
            <a:ext cx="137161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DF2F15CD-3937-4FF1-81D3-AB93F23A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6659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C732A68-68C1-4961-85AE-F4C86FB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8487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25464DE0-4D2D-4140-8CA1-1DE05A50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4675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E2E822-F533-4780-BDA7-B7261DDD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65038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36084306-35F4-43F0-9946-7B7F3B58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4947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446D551-031B-4FFB-B7CB-7846AE0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6775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3671E64-3E82-437A-A9D2-EEF4366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16015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339C6F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C170AD4-60E4-4CAC-9542-53A66597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4246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9E6EBEA-2426-42FE-A31B-255391BA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83390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Nearby listing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876FD9-5A77-4D38-8570-E9D550F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8137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FreshBakes Bakery • 50 Croissants • 1.8 km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30867813-FEC0-40CB-ABDC-03EDE5EB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690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F3921CF-CA94-427A-AD34-D6D99EA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06834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51639B-4367-4CAA-ABB9-2F1490EE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1581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19:00–21:00 • Available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7BC3F11-E0FF-4630-A281-C39B513E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1134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CA0EFC6-0D6B-4A03-AD1B-65A77E14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30278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F2EA56B-7AAC-4B75-9EA1-939C27F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65025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 details → Claim → Pick up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C87B6CA-82F2-4B21-A74B-C50F645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428142"/>
            <a:ext cx="5922335" cy="701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The platform tells the NGO what is available and where it is; the claim/pickup lifecycle then records completion.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8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A24D5BA-22FE-4837-82F0-ED4F0461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8. Admin &amp; ESG Reporting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4434CB-94B6-43A5-A1C0-6760EEE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9105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Platform oversight plus measurable sustainability impact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1F6681B-A1FF-417F-8D53-D0FF95F4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39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9F3EB39-F345-4624-9204-E96FFA86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75830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323D3F-9C3D-4FA9-8F4A-D94EC9A0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310"/>
            <a:ext cx="452628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Review pending NGO applications.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Verify food-safety documentation.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Monitor active listings and claims.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platform-wide food rescued.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965C5FE-0FBB-454C-9B20-7C28D8A6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84390"/>
            <a:ext cx="457200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382C98-86E5-4472-ABD0-786320ED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5" y="2075830"/>
            <a:ext cx="4315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ESG dashboard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9DB0974-6654-4C69-A61B-11C130F5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3AD5511-1D7C-428D-8EA3-B5101550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1,284 kg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B1ECF1-D4F2-49E3-B3BC-8F8521B5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A15D2C2-DD0C-4000-9EC1-05695B6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3A60B10-5683-4883-876A-9ACC857A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619FB9-B9E4-477C-95DA-FC49C441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Pickups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B0FAFF7-A416-4ABD-8FBA-71D6D08C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461BB29-5E0E-4CFE-985C-F8C1C23E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CE3BB5E-4593-4A3C-8287-6C6B7C52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Verified NGOs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1B26FC-7140-4821-949F-16FD5FA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72175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585858"/>
                </a:solidFill>
                <a:latin typeface="Aptos"/>
                <a:ea typeface="Aptos"/>
                <a:cs typeface="Aptos"/>
              </a:rPr>
              <a:t>Illustrative reporting dimensions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61F0311-C673-4332-9E17-A2030C4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783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1B3505A-4ACB-43E6-86E8-11E2343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E8C6594-DA0E-4B48-A57F-F3DE6F20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1451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6369D1F-02CC-4AC5-A566-C6A1EA33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5355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CO₂ avoided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06958C1-7520-4CE3-9C16-7C6B587E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A9C2D75-F726-4AA2-806D-0BA1B783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172547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EF5881A-1CDA-44C5-B837-7CCCEF7B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927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Completed claims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5162294-4170-4CA8-9A2A-CCD431EF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90946EE-D156-4374-8B9E-8C402D3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153893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1C262AD-FF0C-4723-9038-854BFD61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44" y="5632846"/>
            <a:ext cx="4362824" cy="697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7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Claims and completed pickups create the evidence trail behind impact reporting.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7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30CA96-6FFA-487D-B316-4002DC3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21043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9. Technology Stack &amp; Data Model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C8FD83-78D6-46C1-A756-2DC545D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823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the chosen stack fits the problem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39DF134-C391-44EF-A345-E88D62CD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42085E-B349-41DB-9799-048CA9DB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0537A33-58B1-4FD3-985F-BC2B84F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• React • 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170B762-BEE9-4E98-96E3-6ADC16F1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C28ACD-AD42-455B-B08A-FC3C4F0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068322-3212-4DC8-A55B-0DF2FB82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• Express • JWT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4CE38CE-6134-4D37-A53A-DECACDF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03656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93BDFA-6AD3-4854-BC28-29123F99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12800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&amp; Visualization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959DD2D-16D0-4295-9D3C-7EB414EA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75472"/>
            <a:ext cx="32186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• Mongoose • Leaflet • Chart.js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3499333-1A01-4FD3-A714-13D58E84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3880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616BE08-1170-457A-BDF5-CD683C83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EA8D8DD-E3BA-4E3D-8A0A-0FB7FF7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7C7A554-42B3-4EDC-81E8-EE574677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Donor / NGO / Admin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A28DC94-3BBD-4BFC-87FD-8C6BE07A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8A9B266-B824-4BB2-93FC-1FCD371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Listing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50C4606-84DC-4B4C-828C-CD8CB13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+ quantity + pickup window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93378B6-9A8D-4A3E-9BD3-ACE55ECE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EB27913-6309-4201-AA6B-A443209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59A287-DBDD-415C-B0E2-C60B7561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Receiver + listing + status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9A955B8-0563-457A-B683-0061574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12520B9-535B-463A-99DC-A21A8357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AuditLog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E443FFD-BE18-418C-9F17-74578E98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Traceability of key actions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61B5C59-1BFC-44F3-8504-65C24C6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60F954C-D7C3-4B2D-9D38-5733A1B7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30D5F92-C6A5-4A3C-9DF7-10A361C6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classification</a:t>
            </a:r>
          </a:p>
        </p:txBody>
      </p:sp>
      <p:sp>
        <p:nvSpPr>
          <p:cNvPr id="3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4" y="4958387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MongoDB geospatial layer</a:t>
            </a:r>
          </a:p>
          <a:p xmlns:a="http://schemas.openxmlformats.org/drawingml/2006/main">
            <a:pPr algn="ctr">
              <a:buNone/>
            </a:pPr>
            <a:r>
              <a:rPr sz="1060">
                <a:solidFill>
                  <a:srgbClr val="2C2C2C"/>
                </a:solidFill>
                <a:latin typeface="Aptos"/>
                <a:ea typeface="Aptos"/>
                <a:cs typeface="Aptos"/>
              </a:rPr>
              <a:t>2dsphere index → proximity query → nearby receiver discovery</a:t>
            </a:r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A82CE5-B4BF-4584-A128-9EDF321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3854641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10. Latest Implementation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1DBA65C-ECB0-4EB0-8DE1-6F68BF3B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3848290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Recent product, integration and presentation updates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900ED35C-369D-451B-99E8-E12D5C959130}"/>
              </a:ext>
            </a:extLst>
          </p:cNvPr>
          <p:cNvGraphicFramePr/>
          <p:nvPr/>
        </p:nvGraphicFramePr>
        <p:xfrm>
          <a:off xmlns:a="http://schemas.openxmlformats.org/drawingml/2006/main" x="743429" y="1766598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implementation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Homepage &amp; design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NGO-first India homepage; warm palette, credited community photos, responsive Bootstrap 5 grid.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Role-based journeys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Next.js donor, receiver and admin flows share role-aware navigation and JWT authentication.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&amp; security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Express health/auth/listings/claims/admin/reports; JWT verification and role guards.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 discovery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GeoJSON 2dsphere + $geoNear; nearby results render in the receiver list and Leaflet map.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Pickup, ESG &amp; Figma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Scrollable pickup modal; completed weights drive 2.5× CO₂e reports; Figma screens/motion and UI defects refined.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Refined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7F9C17-01E3-442C-88BF-3CBD10D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345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Local demo needs MongoDB + API :5000 + web :3000; phone/LAN access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A82CE5-B4BF-4584-A128-9EDF321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4373753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11. Integration &amp; Demo Check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1DBA65C-ECB0-4EB0-8DE1-6F68BF3B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6659753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Implemented pathways are in place; live end-to-end checks require the local API and database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900ED35C-369D-451B-99E8-E12D5C959130}"/>
              </a:ext>
            </a:extLst>
          </p:cNvPr>
          <p:cNvGraphicFramePr/>
          <p:nvPr/>
        </p:nvGraphicFramePr>
        <p:xfrm>
          <a:off xmlns:a="http://schemas.openxmlformats.org/drawingml/2006/main" x="743429" y="1766598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Behavior covered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Donor login + Quick Add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JWT sign-in; donor-only listing creation with a pickup window.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Nearby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results appear in the list and as location-based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Claim workflow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claim checks availability and assigns an available listing atomically.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Authorized completion updates claim state and records an audit event.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Admin + ESG reports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Role-guarded admin and report routes aggregate completed pickup weight.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7F9C17-01E3-442C-88BF-3CBD10D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1303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Result: an end-to-end website prototype demonstrates the donor → routing → receiver → pickup → reporting lifecycle.</a:t>
            </a:r>
          </a:p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Access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Github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 repo for code :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  <a:hlinkClick xmlns:r="http://schemas.openxmlformats.org/officeDocument/2006/relationships" r:id="R4ba08fe6c31e4997"/>
              </a:rPr>
              <a:t>Hyperlink</a:t>
            </a:r>
            <a:b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</a:b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BF85B63-25E8-48D9-B533-D4904118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42416"/>
            <a:ext cx="413562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12. Conclusion &amp; References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4349070-938D-41A1-8417-53B2403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6885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0A4EEE7-12AF-4360-A6CC-0C802CB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7181"/>
            <a:ext cx="507492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9DCF6A1-0AC1-4920-A4A1-31F78DAE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8621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E620793-525F-40DC-A8F8-413BEB6A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0100"/>
            <a:ext cx="4709160" cy="1607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Makes surplus food visible before its pickup window expires.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Uses location-aware discovery to reduce coordination friction.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Provides role-based workflows for donors, receivers and admins.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Tracks claims and pickups so impact can be reported.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Creates a foundation for future alerts, optimization and scale.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44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6382019-BD0F-4E1B-9E18-275FBB74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07181"/>
            <a:ext cx="46634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787CDED-421E-4214-A4DD-9DE74451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1898621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C94C720-78FC-4DAA-8242-18193126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64380"/>
            <a:ext cx="3844066" cy="18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Somaiya WPL Mini Project Rubrics &amp; PPT Guidelines.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Next.js Documentation — nextjs.org/docs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MongoDB Documentation — mongodb.com/docs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Mongoose Documentation — mongoosejs.com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React Leaflet — react-leaflet.js.org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Chart.js Documentation — chartjs.org/docs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UN Sustainable Development Goals — sdgs.un.org/goals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531C0BB-29F3-4C94-B33D-F0CCD269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28789"/>
            <a:ext cx="9692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2026-10-21T20:17:53.8040000Z</dcterms:created>
  <dcterms:modified xsi:type="dcterms:W3CDTF">2026-10-21T20:17:53.8040000Z</dcterms:modified>
</coreProperties>
</file>