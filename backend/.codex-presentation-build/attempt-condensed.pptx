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958f56f2004b55" /><Relationship Type="http://schemas.openxmlformats.org/officeDocument/2006/relationships/extended-properties" Target="/docProps/app.xml" Id="R84b86fbc898f4599" /><Relationship Type="http://schemas.openxmlformats.org/officeDocument/2006/relationships/officeDocument" Target="/ppt/presentation.xml" Id="Rae2933887b95491d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52ac77cd8f064acd"/>
  </p:sldMasterIdLst>
  <p:notesMasterIdLst>
    <p:notesMasterId xmlns:r="http://schemas.openxmlformats.org/officeDocument/2006/relationships" r:id="Rbc90b88198a14a17"/>
  </p:notesMasterIdLst>
  <p:sldIdLst>
    <p:sldId xmlns:r="http://schemas.openxmlformats.org/officeDocument/2006/relationships" id="256" r:id="R1edbb936260c440e"/>
    <p:sldId xmlns:r="http://schemas.openxmlformats.org/officeDocument/2006/relationships" id="257" r:id="R36a03d4d42804713"/>
    <p:sldId xmlns:r="http://schemas.openxmlformats.org/officeDocument/2006/relationships" id="258" r:id="R23a9e8d5994d4814"/>
    <p:sldId xmlns:r="http://schemas.openxmlformats.org/officeDocument/2006/relationships" id="259" r:id="R7d1cdb9c8a914310"/>
    <p:sldId xmlns:r="http://schemas.openxmlformats.org/officeDocument/2006/relationships" id="260" r:id="R92bbda1731474ecb"/>
    <p:sldId xmlns:r="http://schemas.openxmlformats.org/officeDocument/2006/relationships" id="261" r:id="R915ba0009d5e435e"/>
    <p:sldId xmlns:r="http://schemas.openxmlformats.org/officeDocument/2006/relationships" id="262" r:id="R9b31db98deda4c6c"/>
    <p:sldId xmlns:r="http://schemas.openxmlformats.org/officeDocument/2006/relationships" id="263" r:id="Rb3671fadbe264370"/>
    <p:sldId xmlns:r="http://schemas.openxmlformats.org/officeDocument/2006/relationships" id="264" r:id="R05d8295b080f4d1f"/>
    <p:sldId xmlns:r="http://schemas.openxmlformats.org/officeDocument/2006/relationships" id="265" r:id="Rcb6689e431724b9c"/>
    <p:sldId xmlns:r="http://schemas.openxmlformats.org/officeDocument/2006/relationships" id="266" r:id="R1f184052d59d40d1"/>
    <p:sldId xmlns:r="http://schemas.openxmlformats.org/officeDocument/2006/relationships" id="267" r:id="R7bf0ffa965a14c4d"/>
    <p:sldId xmlns:r="http://schemas.openxmlformats.org/officeDocument/2006/relationships" id="268" r:id="R16ad095ea1b04853"/>
  </p:sldIdLst>
  <p:sldSz cx="12192000" cy="6858000"/>
  <p:notesSz cx="6858000" cy="9144000"/>
  <p:embeddedFontLst>
    <p:embeddedFont>
      <p:font typeface="Fira Sans"/>
      <p:regular xmlns:r="http://schemas.openxmlformats.org/officeDocument/2006/relationships" r:id="Re82d19f48e2d48a4"/>
      <p:bold xmlns:r="http://schemas.openxmlformats.org/officeDocument/2006/relationships" r:id="R42f458a623ff468c"/>
      <p:italic xmlns:r="http://schemas.openxmlformats.org/officeDocument/2006/relationships" r:id="R2d9b2c4957034950"/>
      <p:boldItalic xmlns:r="http://schemas.openxmlformats.org/officeDocument/2006/relationships" r:id="Rb7b50f39c5e04d23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15e5688ee34ab2" /><Relationship Type="http://schemas.openxmlformats.org/officeDocument/2006/relationships/slideMaster" Target="/ppt/slideMasters/slideMaster1.xml" Id="R52ac77cd8f064acd" /><Relationship Type="http://schemas.openxmlformats.org/officeDocument/2006/relationships/notesMaster" Target="/ppt/notesMasters/notesMaster1.xml" Id="Rbc90b88198a14a17" /><Relationship Type="http://schemas.openxmlformats.org/officeDocument/2006/relationships/presProps" Target="/ppt/presProps.xml" Id="R5b9ce5236f5b46d6" /><Relationship Type="http://schemas.openxmlformats.org/officeDocument/2006/relationships/viewProps" Target="/ppt/viewProps.xml" Id="R98bdf1ff828746d5" /><Relationship Type="http://schemas.openxmlformats.org/officeDocument/2006/relationships/tableStyles" Target="/ppt/tableStyles.xml" Id="Ra97da99c9acf4179" /><Relationship Type="http://schemas.openxmlformats.org/officeDocument/2006/relationships/font" Target="/ppt/fonts/font.dat" Id="Re82d19f48e2d48a4" /><Relationship Type="http://schemas.openxmlformats.org/officeDocument/2006/relationships/font" Target="/ppt/fonts/font2.dat" Id="R42f458a623ff468c" /><Relationship Type="http://schemas.openxmlformats.org/officeDocument/2006/relationships/font" Target="/ppt/fonts/font3.dat" Id="R2d9b2c4957034950" /><Relationship Type="http://schemas.openxmlformats.org/officeDocument/2006/relationships/font" Target="/ppt/fonts/font4.dat" Id="Rb7b50f39c5e04d23" /><Relationship Type="http://schemas.openxmlformats.org/officeDocument/2006/relationships/slide" Target="/ppt/slides/slide1.xml" Id="R1edbb936260c440e" /><Relationship Type="http://schemas.openxmlformats.org/officeDocument/2006/relationships/slide" Target="/ppt/slides/slide2.xml" Id="R36a03d4d42804713" /><Relationship Type="http://schemas.openxmlformats.org/officeDocument/2006/relationships/slide" Target="/ppt/slides/slide3.xml" Id="R23a9e8d5994d4814" /><Relationship Type="http://schemas.openxmlformats.org/officeDocument/2006/relationships/slide" Target="/ppt/slides/slide4.xml" Id="R7d1cdb9c8a914310" /><Relationship Type="http://schemas.openxmlformats.org/officeDocument/2006/relationships/slide" Target="/ppt/slides/slide5.xml" Id="R92bbda1731474ecb" /><Relationship Type="http://schemas.openxmlformats.org/officeDocument/2006/relationships/slide" Target="/ppt/slides/slide6.xml" Id="R915ba0009d5e435e" /><Relationship Type="http://schemas.openxmlformats.org/officeDocument/2006/relationships/slide" Target="/ppt/slides/slide7.xml" Id="R9b31db98deda4c6c" /><Relationship Type="http://schemas.openxmlformats.org/officeDocument/2006/relationships/slide" Target="/ppt/slides/slide8.xml" Id="Rb3671fadbe264370" /><Relationship Type="http://schemas.openxmlformats.org/officeDocument/2006/relationships/slide" Target="/ppt/slides/slide9.xml" Id="R05d8295b080f4d1f" /><Relationship Type="http://schemas.openxmlformats.org/officeDocument/2006/relationships/slide" Target="/ppt/slides/slide10.xml" Id="Rcb6689e431724b9c" /><Relationship Type="http://schemas.openxmlformats.org/officeDocument/2006/relationships/slide" Target="/ppt/slides/slide11.xml" Id="R1f184052d59d40d1" /><Relationship Type="http://schemas.openxmlformats.org/officeDocument/2006/relationships/slide" Target="/ppt/slides/slide12.xml" Id="R7bf0ffa965a14c4d" /><Relationship Type="http://schemas.openxmlformats.org/officeDocument/2006/relationships/slide" Target="/ppt/slides/slide13.xml" Id="R16ad095ea1b0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1657bdcc946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b50d1e1e77475c" /><Relationship Type="http://schemas.openxmlformats.org/officeDocument/2006/relationships/notesMaster" Target="/ppt/notesMasters/notesMaster1.xml" Id="Rf864291c2b8c4f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adbf2fbe15470e" /><Relationship Type="http://schemas.openxmlformats.org/officeDocument/2006/relationships/notesMaster" Target="/ppt/notesMasters/notesMaster1.xml" Id="R1dc44a9306ed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a42b3e071499a" /><Relationship Type="http://schemas.openxmlformats.org/officeDocument/2006/relationships/notesMaster" Target="/ppt/notesMasters/notesMaster1.xml" Id="R17b059a4c5b2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dbc07b6944ddc" /><Relationship Type="http://schemas.openxmlformats.org/officeDocument/2006/relationships/notesMaster" Target="/ppt/notesMasters/notesMaster1.xml" Id="Rcf6e6b97287840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f86afe84ae4f13" /><Relationship Type="http://schemas.openxmlformats.org/officeDocument/2006/relationships/notesMaster" Target="/ppt/notesMasters/notesMaster1.xml" Id="R6df3a630b0a540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50f7e4d644651" /><Relationship Type="http://schemas.openxmlformats.org/officeDocument/2006/relationships/notesMaster" Target="/ppt/notesMasters/notesMaster1.xml" Id="R384736406138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0723ecd97c4d9e" /><Relationship Type="http://schemas.openxmlformats.org/officeDocument/2006/relationships/notesMaster" Target="/ppt/notesMasters/notesMaster1.xml" Id="R49ee9d69f6b44a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09e4bd6ee84194" /><Relationship Type="http://schemas.openxmlformats.org/officeDocument/2006/relationships/notesMaster" Target="/ppt/notesMasters/notesMaster1.xml" Id="R24bc1c282daa46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4158d297ec496e" /><Relationship Type="http://schemas.openxmlformats.org/officeDocument/2006/relationships/notesMaster" Target="/ppt/notesMasters/notesMaster1.xml" Id="Rf1e6987d709a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4bfcded86148cf" /><Relationship Type="http://schemas.openxmlformats.org/officeDocument/2006/relationships/notesMaster" Target="/ppt/notesMasters/notesMaster1.xml" Id="R8c84cccaa8404d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82fd0f71a24d25" /><Relationship Type="http://schemas.openxmlformats.org/officeDocument/2006/relationships/notesMaster" Target="/ppt/notesMasters/notesMaster1.xml" Id="Ra4294249dd1f4d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9da2cccf4f4e06" /><Relationship Type="http://schemas.openxmlformats.org/officeDocument/2006/relationships/notesMaster" Target="/ppt/notesMasters/notesMaster1.xml" Id="Rc8281f09214043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7b6b15908149bb" /><Relationship Type="http://schemas.openxmlformats.org/officeDocument/2006/relationships/notesMaster" Target="/ppt/notesMasters/notesMaster1.xml" Id="R209839d17536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IMPLEMENTATION — 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and visual system: the public homepage was refocused on surplus-food rescue and NGO/receiver audiences in India. Credited community/NGO and food photography, a new warm palette, Bootstrap 5 responsive grid utilities and clearer calls to action replace the earlier visual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Frontend journeys: Next.js App Router pages use shared authentication state and role-aware navigation for donor, receiver and admin roles. The API client reads NEXT_PUBLIC_API_URL (default http://localhost:5000/api) and attaches JWT Bearer tokens. Donor flows create listings; receiver flows discover and claim surplus; admin flows support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 integration: Express mounts health, auth, listings, claims, admin and reports route families. Authentication verifies JWTs, and requireRole guards role-specific actions. Mongoose persists users, listings, claims, categories and audit logs. The health endpoint is /api/health.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Location and pickup: listings store GeoJSON Point coordinates as [longitude, latitude] and use a 2dsphere index. Nearby discovery uses MongoDB $geoNear rather than arithmetic distance. Receiver results are represented in both the list and Leaflet map. Listing details use a scrollable modal layered above the map. Claiming is atomic; pickup completion records an audit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and design delivery: completed pickup weight feeds reports using 1 kg of rescued food = 2.5 kg CO₂e avoided (meal equivalent: 2 meals/kg). The existing FoodBridge Figma file/page was updated; recent polish corrected bullet alignment, organization initials, form labels and palette swatches, and added prototype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demo: MongoDB is expected at mongodb://127.0.0.1:27017/foodbridge. Start the backend with npm run dev from backend, then start the frontend with npm run dev from frontend; defaults are API port 5000 and web port 3000. Open the frontend on the laptop after confirming /api/health. Phone/LAN access has not been verified and requires matching network reachability, firewall access and a LAN-reachable API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note: statuses describe implemented UI/routes, not a claim that every service was running during this deck update. The API depends on MongoDB at mongodb://127.0.0.1:27017/foodbridge. Check http://localhost:5000/api/health, run the backend from backend with npm run dev, then the frontend from frontend with npm run dev. The browser should use the laptop's frontend at http://localhost:3000. Phone/LAN access is still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781ddd0a64c5e" /></Relationships>
</file>

<file path=ppt/slideLayouts/slideLayout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9C90F0FE-CC02-41A1-980A-79838D1C6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B7315B1F-5A14-45AF-A86A-257434522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7C5D8320-3A7B-4795-9838-88C5951F96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98941" y="6492875"/>
            <a:ext cx="4930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8C64F23-8B1A-4C30-9FDF-6C40341999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ea2dfc81b9747b2" /><Relationship Type="http://schemas.openxmlformats.org/officeDocument/2006/relationships/image" Target="/ppt/media/image2.png" Id="Rea144ebda40048d8" /><Relationship Type="http://schemas.openxmlformats.org/officeDocument/2006/relationships/image" Target="/ppt/media/image3.png" Id="R2e464fa970264267" /><Relationship Type="http://schemas.openxmlformats.org/officeDocument/2006/relationships/image" Target="/ppt/media/image4.png" Id="R4a802c7be8d041db" /><Relationship Type="http://schemas.openxmlformats.org/officeDocument/2006/relationships/theme" Target="/ppt/slideMasters/theme/theme2.xml" Id="R3def9ebd55a64294" /><Relationship Type="http://schemas.openxmlformats.org/officeDocument/2006/relationships/slideLayout" Target="/ppt/slideLayouts/slideLayout1.xml" Id="Rba4fcf35e7f14a5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03E19092-CBEF-422E-A1A1-F5737AD6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57" y="294320"/>
            <a:ext cx="9129486" cy="7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452089A0-9141-4945-A3EB-2452670E3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a2dfc81b9747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5897008" y="589313"/>
            <a:ext cx="385984" cy="1220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F39BEFD1-9DA2-4C13-9D86-2EE07C8C0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144ebda40048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4564844" y="1740546"/>
            <a:ext cx="176409" cy="9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6D0EB836-2CE4-4B12-8FD9-B02241CA7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464fa9702642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6462" y="220820"/>
            <a:ext cx="968545" cy="721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61AAAC8D-5471-4612-8A5F-BDCCD7C596F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90734" y="6519180"/>
            <a:ext cx="72244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D452E97-06AE-4F66-AA17-1063FBDA6F4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772E68A-DCF5-4159-9486-332CFCEC4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02c7be8d041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152" y="260407"/>
            <a:ext cx="1982116" cy="648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fcf35e7f14a5e"/>
  </p:sldLayoutIdLst>
  <p:hf hd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c2fee1e0d4bc2" /><Relationship Type="http://schemas.openxmlformats.org/officeDocument/2006/relationships/notesSlide" Target="/ppt/notesSlides/notesSlide1.xml" Id="Rb54c8289592a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934ac667d4c7d" /><Relationship Type="http://schemas.openxmlformats.org/officeDocument/2006/relationships/notesSlide" Target="/ppt/notesSlides/notesSlide2.xml" Id="R9c453c8b35f2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e8d36d8a144e6" /><Relationship Type="http://schemas.openxmlformats.org/officeDocument/2006/relationships/notesSlide" Target="/ppt/notesSlides/notesSlide3.xml" Id="R6b296050d409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224209ab4ba1" /><Relationship Type="http://schemas.openxmlformats.org/officeDocument/2006/relationships/notesSlide" Target="/ppt/notesSlides/notesSlide4.xml" Id="R1880ab01a43b49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c1356942b459b" /><Relationship Type="http://schemas.openxmlformats.org/officeDocument/2006/relationships/notesSlide" Target="/ppt/notesSlides/notesSlide5.xml" Id="Rbff77016a41449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1bec144984763" /><Relationship Type="http://schemas.openxmlformats.org/officeDocument/2006/relationships/notesSlide" Target="/ppt/notesSlides/notesSlide6.xml" Id="Raeb4901df68a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b542efc5c4bcd" /><Relationship Type="http://schemas.openxmlformats.org/officeDocument/2006/relationships/notesSlide" Target="/ppt/notesSlides/notesSlide7.xml" Id="Rd15a8d92e1114d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7abd8b68c4a02" /><Relationship Type="http://schemas.openxmlformats.org/officeDocument/2006/relationships/notesSlide" Target="/ppt/notesSlides/notesSlide8.xml" Id="Rcd77bde02d5f49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20453212842db" /><Relationship Type="http://schemas.openxmlformats.org/officeDocument/2006/relationships/notesSlide" Target="/ppt/notesSlides/notesSlide9.xml" Id="Rb729c3efc79b49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9aaa0c4bd48b5" /><Relationship Type="http://schemas.openxmlformats.org/officeDocument/2006/relationships/notesSlide" Target="/ppt/notesSlides/notesSlide10.xml" Id="R16397aca785740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640ef3d942ce" /><Relationship Type="http://schemas.openxmlformats.org/officeDocument/2006/relationships/notesSlide" Target="/ppt/notesSlides/notesSlide11.xml" Id="R89c705f2bcf54a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7efdc652f4fb7" /><Relationship Type="http://schemas.openxmlformats.org/officeDocument/2006/relationships/hyperlink" Target="https://github.com/AdiCynth/Mini-Project.git" TargetMode="External" Id="R8e89b12ac4234a8c" /><Relationship Type="http://schemas.openxmlformats.org/officeDocument/2006/relationships/notesSlide" Target="/ppt/notesSlides/notesSlide12.xml" Id="R5a6199a26cb946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54cc950b3437c" /><Relationship Type="http://schemas.openxmlformats.org/officeDocument/2006/relationships/notesSlide" Target="/ppt/notesSlides/notesSlide13.xml" Id="Raede3cc92b9e47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9521F25-14AE-46CC-8788-D7AB17AB2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9E9B985-D985-4609-B593-E5C5CADD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9509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2208A5A-2155-4E00-AC3F-10C0A368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8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A Geo-Routed Surplus Food Redistribution Platform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D8D2F72-4784-4803-B040-4567FD51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61488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WPL Mini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1FA8F2-B526-497A-AF2F-62D8109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1868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K. J. Somaiya College of Engineering, Mumbai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A3C3FB-83C3-4423-9D04-D656C3B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627" y="3675887"/>
            <a:ext cx="2556982" cy="3262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 Prepared by: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5439741-E00A-4880-866B-8AD04873E4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B08ABC-C319-4D7D-B314-0294B2CD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1. Problem Statement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1C9D1AC-BE1F-4AD6-9A01-DE2A10D0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32204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surplus food needs a digital bridge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F4E435C-860D-43FA-A4D5-1191E058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E58246B-D597-4585-A119-5DFF46E0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Current challenge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D00BF0-047E-496A-AE4D-0ABC31F5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1" y="3411226"/>
            <a:ext cx="4818887" cy="734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C2C2C"/>
                </a:solidFill>
                <a:latin typeface="Aptos"/>
                <a:ea typeface="Aptos"/>
                <a:cs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6A2034-DEAE-43D7-8A31-ED578A38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46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ECD7B08-D726-444A-B5EF-2180830A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Operational gaps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F71403-4E49-464C-89CE-C281C5B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3334766"/>
            <a:ext cx="4818888" cy="2898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No real-time visibility of nearby receivers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Pickup windows are time-sensitive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Manual coordination causes delays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Little traceability for food rescued and ESG reporting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2E5E50C-821D-4A7F-8544-FB18DC13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5721350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FD99DD6-DA5B-462B-90D9-A4B05A82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88135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2. Proposed Solution &amp; Objectives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88F6AF-E1D8-45ED-BBCD-FD639B25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333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</a:t>
            </a: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connects surplus, location and accountability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D9AF1FF-8932-4465-8D27-38AC7D29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190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E56124-F196-40F4-8921-5261E87C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E545CA7-7B8F-4DFF-AD2C-97F861C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Lists surplus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3A03CD07-6DCA-4EF5-BB5E-782E3E81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20200C7-159E-4C61-A60B-146C2566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5282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7F30BC3-EF76-450E-BCD7-88DC4515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838B0D-597F-4194-A06E-8B592FF9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Matches nearby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eligible receivers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94C2B37-A9C7-40E3-A5CC-01F2BC42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B3D4D51-467B-42AF-896B-A761C8F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8830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3DE06E-313C-46CC-A45F-48F8D14D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NGO / FOOD BANK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DDB210-2951-41A5-98F3-54BC85E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collects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3799E9BE-62DF-4547-8FC2-320E2380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4C5646E-2FDB-446A-BEE8-9E769EC4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416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C35D66D-DCDA-4442-A131-E1E59C03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687E20F-449A-4E60-93A0-5B46E1E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Records rescued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&amp; metrics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DD21B28-36D5-4099-BF43-A099157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Key objectives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0410EC-7544-47B2-A1BC-234B572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96512"/>
            <a:ext cx="10058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Reduce edible food sent to landfill.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Use location-aware discovery to minimize pickup distance.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Enforce pickup windows for perishable inventory.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D7A7363-9B4C-4E1D-89E3-183704E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4513C48-D7FE-4828-B7EF-AA2A6BF7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B2E3EDF-C055-42C7-9AED-92AC252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Responsible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4206C16-3CF2-4CF6-B599-1D9F8092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F197E00-48F0-401E-B729-4D19DB9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56EFC77-E749-4A2B-AD11-8AE719DD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Climate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2A57B-01EE-4650-BC2C-24416F1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2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3. Target Users &amp; End-to-End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968201B-FED6-46BA-B4D6-656F1978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938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Three roles, one traceable redistribution lifecycle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76A0305-D9E4-4830-8CBB-60F2292C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B7DE05-E6C5-4950-B59E-E87678E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/ SME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7B8418-8E29-479B-B01A-BB9EAB25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52345"/>
            <a:ext cx="2918566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Restaurant, bakery, caterer or grocery business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6FBB1DA-C6C7-49C9-88DA-A7D0D622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91A598D-709D-4D41-B8FE-85E22064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/ NGO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4136552-7092-41C5-A84E-EB397DDC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7" y="2752345"/>
            <a:ext cx="3026663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Verified food bank or community organization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EE688DF-C47E-49F2-A09C-6F8AAD68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6EEB96F-BEE9-44D6-87E8-955593B9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077DDF2-61CB-4CCA-A326-24B58F68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52345"/>
            <a:ext cx="29900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Vets NGOs and monitors platform health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A7B814C8-156E-481D-848A-50438A72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CEA893F-7DC4-4F4F-BFFF-695DED99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B3DC46-683C-4CF0-B917-D5F0AED2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 surplus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AE261C6-6A50-45F3-9496-9006108A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Item + quantity + pickup window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EF6674E7-5824-48F5-8B28-A79DF32F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87790D21-2AA4-4D2D-A9CE-90DFC8C8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11C2857-39FD-43D0-ABED-43605258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E6980C6-7C52-4403-8DCF-52CA7D96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Geo-match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E6F32E2-20C1-4E5A-A067-657FE4A7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Nearby eligible receivers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CF6E76F2-0604-447C-9A7F-C7F34177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224C50BE-63DB-495C-BCD4-4E2D6A88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DC3BD27-040F-4043-9E3B-363E38C4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AEE68A0-D373-4793-8E88-95B0FF92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B79D20-EDF7-40A2-BFDF-00FD811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 reserves the listing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AB168391-928A-4BB2-A4A2-85BD6302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2E9378AA-FBB2-445A-A7C3-79E737E5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869103C-8E38-407C-B215-65BC2912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48214B0-80AD-411E-BB75-24AFE817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0EDBAB2-0013-4647-BA38-98A4720A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Collect before expiry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CFBB11F1-20E7-491D-910C-CB0E328E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215384"/>
            <a:ext cx="438911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DAA6CFCE-AAEC-43F9-885F-A9E8AE1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686CD3F-FF4D-461E-9656-25D00C89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056B9D0-10AA-4DA3-88BD-4F3DBF8E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9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E0CDC479-A7F6-4C3D-96D2-7C40DA8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EA0D78-462D-419D-9BB9-E3D825A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32924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4. Features of the Designed System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C5D0369-1EC2-4066-91A5-C2BA3757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819654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8474D2-91B1-4613-956A-492FE4F1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" y="1843596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332EE34-88DB-4045-BFEE-94A1DDA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72B451-FB2F-4AF6-B5D3-2F35DF2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Dynamic Geo-Routing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798FDE-C544-4026-8B11-FE43FF9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825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2dsphere indexes and proximity queries surface nearby food listings to receivers.</a:t>
            </a:r>
            <a:endParaRPr sz="118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B1560D8-3A41-4031-A2C6-C768B83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C329A9-7489-4BC1-8157-2C51F2CE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9347"/>
            <a:ext cx="2715768" cy="603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Perishable Inventory Constraints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2A6C3AB-18A5-4E21-837A-4EFFB42A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8258"/>
            <a:ext cx="2770632" cy="837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 start/end timestamps control availability and expired listings drop out of the active flow.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61A9161-9F06-46E4-B259-79C326EA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2628536-054D-4F57-80C0-C237D7D7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Quick Add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2E46062-C3C3-491B-A7D6-B4A2C8C0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3" y="2568259"/>
            <a:ext cx="2778217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Fast listing flow for businesses: item, quantity and pickup window.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167D608-3AAA-4F42-BC20-F8ADF963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AD97637-E8A7-4F30-9E1A-00CC129C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 &amp; Claims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C1B00D5-51A5-4945-B1C8-E1D8BD03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4277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NGOs discover local surplus, inspect listing details and claim food for pickup.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7105B92-76E2-4340-9D09-5AED4011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7B1F1C0-4BEE-4574-A67E-0932F952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Lifecycle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F43F62-7EE7-4A72-A7E7-397C5FBA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42779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Claimed → Picked Up state makes collection progress traceable.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AA8358E-F31D-44FF-B311-F5B9E1E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19DCECE-826F-4E1F-9B75-421FA6DF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 &amp; ESG Reporting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76905AE-A9AE-441C-93D8-014DA170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442779"/>
            <a:ext cx="2778216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 completed pickups feed food-saved and sustainability metrics.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F8DA37-2B68-405D-ABA0-D24EB696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09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5. System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301C45F-F0E4-41A4-ABCC-9A5E538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6212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2E129A-2729-435B-8A29-46A7AF4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11629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Layered web architecture with MongoDB geospatial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33B3F0C-49EC-4745-85D5-071D72F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0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4B70078-099D-4974-B85A-7020040F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CLIENT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C5283E-431C-45CA-BE4A-A756262C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+ React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46B69DC-A05E-4592-849C-A70EBAD8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52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679DD3-C695-488F-BDBF-784DCF96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8D1A6D-C6BD-4C1F-844F-B9D8A8C5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+ Express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B9BF5CE-57B9-4C5D-B30D-76E6CE1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04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A4BA375-F3AA-4252-A67B-D729323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D6816DA-A550-4ACD-ADC6-1A990F9C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+ Mongoose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Users, listings, claims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0358DA7-8B1F-4F6E-BF41-85160966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6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7A7190B-7251-41C9-8645-2A5557A2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SPECIALIZED UI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8EC4E12-0CCB-4085-917B-5BD1D728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React Leaflet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F6D17B75-AEE0-4ED9-835C-17427BB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0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0FC81BD8-6F64-4BBC-B48C-2D4B15E1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072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54EDED97-7686-4382-92BC-DC94C7AA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823" y="2712897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C51EA1D-BF0D-4636-A771-BF2F88A4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12997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Geospatial routing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402A6A7-0FE6-4BA9-A8AE-D25DD25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086DEE4-F128-4C56-8536-75F97545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location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FB72F73-1EBE-4CBE-9011-4FC69C96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GeoJSON point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C1BFBAFA-117F-4BE0-8240-FD68FB84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62C5E6A-FFFD-4550-8BDC-B7C5E3F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AFE2AB5-4198-4CA2-B5F1-7D6CFEEA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2dsphere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45645A5-C3E6-401D-9391-93FF1BA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Indexed spatial lookup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D5E44D31-900D-4176-B611-70EA46B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20B8CF5B-192E-46CE-BF57-E43C34FD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F2D9B2C-C14A-4032-8E6A-4E00078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$geoNear / proximity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EF02FB8-8D38-4459-A639-5A431CD3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Nearest eligible listings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833CB745-8E18-4533-BB10-6416A361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A3AE33D-9F54-4740-A387-E03E6781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0921385-5B13-479D-B24B-F321BC4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943F1CD-8633-48CA-99B9-329D15E0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Distance + pickup window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F7081805-D89D-4E85-8900-0FF1E10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24677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E9C449-8C37-4C48-AD1F-E1206F3D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69848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6. Donor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612CDC-02F0-4AE9-B7FF-8F5768AC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0180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Businesses can publish surplus inventory before closing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4DD43C7-7BB1-4CB4-8B91-8BCF1A22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8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EB877AA-C1A6-42BC-BB0F-8B478E57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912D256-91BB-4ADC-B962-EE127A7E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31720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Business enters donor account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12FF0C50-C706-45C8-BE51-66A17ECE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14600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E1B1E10-4F9A-4C40-940C-33C8B67A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34056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2BFB26-1F9B-476A-87E9-CA5E0028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F68D8C-4F83-4F27-9166-E64198DE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172968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Views active listings and impact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50BF382F-0208-4400-89F9-2C9E910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355848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AC875F5-1F5A-49D7-8640-D6B4385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75304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80B489-A00A-4990-87F5-34F8EB86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6674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QUICK ADD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25D4981-06C3-4F6B-98A8-98CC6263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14216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Select item + quantity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BE5605EC-B6C4-4471-AED5-7BCF588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197096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633B688-0D35-4420-A9C0-4F01F57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16552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218A2C-2F13-44C0-9F8E-2BDDBCC8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3B8FE19-A937-4F2B-9044-26484C4F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855464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Choose start and end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873EB5A8-CD47-4DE4-AEB6-F1EB9139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38344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4B8133B-3360-4429-BA5F-6F023D3C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B8D0612-7545-4E3C-963F-7697B115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49240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DEDAB0C-C5B0-4061-8E38-816835AA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696712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Listing becomes available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30A027CC-CCEA-4438-AFFE-F81A28EC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892808"/>
            <a:ext cx="73609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901C1CC-4F99-4CE4-9F75-B3DE1F2A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84248"/>
            <a:ext cx="7104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What the donor can see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E24CDF6-1129-47CA-9D8A-422AA742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414016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Food saved and active listing metrics.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A quick-add workflow designed for a busy closing shift.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Listing status: Available / Claimed / Picked Up.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Pickup window shown clearly to receivers.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616C3EC-B635-40E0-9173-2E2CD25C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5" y="4818888"/>
            <a:ext cx="6857999" cy="82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Primary demonstration: create a surplus listing in a few steps and immediately make it discoverable.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14C34BC-4BA5-4BD3-8651-241D795B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96696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7. Receiver Workflow &amp; Location Discovery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5A1F6D-1C56-4231-9E1D-0E9E8BC8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841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NGOs use the nearby-food map to decide what to collect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247474-5E4E-456C-8DE0-0575A065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42463"/>
            <a:ext cx="49377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DFAAD77-D9A7-4307-B5A8-93B82F8B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7055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LIVE MAP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F4941C1-7C20-4F77-9B65-BA1827E9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511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0692899-A6A6-446D-AB9A-C3751C4E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3235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76F86E52-76FB-4920-BDA9-A8DFE1D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0959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0C7422EB-9464-4821-BFC8-61ED4E6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683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262D2AE6-3D57-47C7-B92E-68C9DA5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A9A67D48-9B9F-4403-831A-B8C63AB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68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0419B923-9D51-4834-B447-9E8DD02A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5760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AD0B7FD9-76C0-4F6A-B986-008D6908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6279" y="2172230"/>
            <a:ext cx="137161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7C597FC-FC8B-4F9D-8F89-6C875020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6659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C1377C8-2ECD-40B6-AA2B-A90CC67D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8487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7B8A653-877B-448D-AB6D-281A143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4675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7161305-327C-445B-9475-ACEEAF5A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65038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5BE8A94C-C6D9-46A0-A2A3-A44B3B6A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4947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FD86EFD-7F86-4722-BF4D-720ABC58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6775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3520B16-73C2-4D98-A97C-8870F5A7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16015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339C6F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BEF344C-60F0-44E4-9FC0-2448D0B0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4246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45D5D81-96B0-4ADD-887D-0959D5E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83390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Nearby listing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E9C1E4A-9EAB-4D8A-A917-799C672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8137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FreshBakes Bakery • 50 Croissants • 1.8 km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71019BCF-648F-4AD1-AD6B-0284344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690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10DB640-535C-47A0-A508-600D1216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06834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7E1496E-B2D1-4DA5-9824-10864AE0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1581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19:00–21:00 • Available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9B74B49E-8535-4CF0-BA06-864BA11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1134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66F0A1F-D8DC-46C1-AA8D-2871302D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30278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DBE8BD6-5F82-4BEE-AD11-881055BB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65025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 details → Claim → Pick up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CBA0234-89D2-43D4-B723-636BBA34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428142"/>
            <a:ext cx="5922335" cy="701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The platform tells the NGO what is available and where it is; the claim/pickup lifecycle then records completion.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8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2471906-7EEF-4B4E-9235-15AF3A43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8. Admin &amp; ESG Reporting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3BE713-882B-42F7-AAB5-76D1DD7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9105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Platform oversight plus measurable sustainability impact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0B1033B-A3C6-4633-A37A-7570461D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39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FF18FE-728B-4D40-A1E6-845EED23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75830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0D970B-552C-4D8F-A46B-A68090C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310"/>
            <a:ext cx="452628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Review pending NGO applications.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Verify food-safety documentation.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Monitor active listings and claims.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platform-wide food rescued.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4622CFA-D27D-46C5-BA96-0B53E67C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84390"/>
            <a:ext cx="457200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402118-D587-4450-9106-C42E1918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5" y="2075830"/>
            <a:ext cx="4315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ESG dashboard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8BAD03C-C9FA-4E88-8990-D09638BC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A845A9A-5E09-41B5-B870-CB85ABBD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1,284 kg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B8CD8D7-0F97-42DA-9AEB-1E3DDEB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016CE7F-A6CC-48D2-A4DF-5AAE08EE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2055C95-CB25-4BC9-BFF1-09964FE6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CBAA002-6213-4E67-A3ED-9F0B5C29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Pickups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4660602-9ADC-4340-BDDC-8A2D79CB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2773B0C-DB85-4825-B7ED-CC4D185E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E8AAB16-26F2-413C-8706-C48A102B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Verified NGOs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457F61-1574-4D19-B7AF-D0A4246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72175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585858"/>
                </a:solidFill>
                <a:latin typeface="Aptos"/>
                <a:ea typeface="Aptos"/>
                <a:cs typeface="Aptos"/>
              </a:rPr>
              <a:t>Illustrative reporting dimensions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ED2AAF-BB14-4CAC-9157-503ADCF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783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12A19-2086-4A2F-A7D6-A827AB4F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81C39C3-7A5C-4510-8625-86785C7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1451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EF14CB-2849-4919-8912-07951D6E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5355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CO₂ avoided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6E51A76-8076-49DB-92F0-41653C2C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66994D6-6C42-4D39-A04A-839B6D8F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172547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250C988-4991-4789-8836-1AE9139C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927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Completed claims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1B4D19F-5BD5-4991-84CA-B2A99BE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09A8829-DD01-45E5-93D6-E524647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153893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76084A5-8E77-4746-916E-31B9653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44" y="5632846"/>
            <a:ext cx="4362824" cy="697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7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Claims and completed pickups create the evidence trail behind impact reporting.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7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8CBF21-45B4-40D9-9AEE-F81E1A86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21043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9. Technology Stack &amp; Data Model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0CB65A-F2F2-493C-B638-2D328A34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823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the chosen stack fits the problem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6AA75E7-3FBE-4674-B9AA-5FE03030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7AD150-DF85-43DD-96CF-243E525F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694A30-26D1-4F69-A805-4625152F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• React • 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69BF557-36A2-47F1-8CB5-55554CBB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A88DD1E-1A83-47DD-9F7A-5F94D295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B72A575-A5C8-432A-830D-7C90AD8D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• Express • JWT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1C08DE9-5EE2-4140-AD50-631ED59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03656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97F3AA3-D486-4862-95DD-991A66C7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12800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&amp; Visualization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91D7D50-24E0-4AAF-A37E-1C578416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75472"/>
            <a:ext cx="32186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• Mongoose • Leaflet • Chart.js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8103AAD-A21E-40E6-BA0F-9542C46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3880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38501DF-43A7-417B-BB6D-8F6DFDF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3A3B56A-C0A3-41B4-9BF6-8B75EF2A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265CE58-0BEB-4054-A062-A1EEE667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Donor / NGO / Admin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600D147-7243-41F4-B7BA-6462443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9EFCDEC-FB43-45A1-B9CD-9579AE29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Listing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4BDB1DE-5F68-4701-AB91-DCC61CED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+ quantity + pickup window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3B20B17-6D7E-483C-8A76-26C44CA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09B0F89-26E3-4D64-824A-D58F7B6C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81F52EF-B5B4-45F4-BA63-338C04A5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Receiver + listing + status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BCDA471-E98A-4221-9242-5465F5A8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47CC7A3-5ADF-4F85-8000-93EB604B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AuditLog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1441F13-7A31-4B62-9CFD-C73EB1A6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Traceability of key actions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3FE768A-16AF-4ECE-B7F6-591EBE4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508E8C7-3EC1-4E18-B069-173557C9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96B2746-FC7C-497D-9EA9-ECE8F698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classification</a:t>
            </a:r>
          </a:p>
        </p:txBody>
      </p:sp>
      <p:sp>
        <p:nvSpPr>
          <p:cNvPr id="3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4" y="4958387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MongoDB geospatial layer</a:t>
            </a:r>
          </a:p>
          <a:p xmlns:a="http://schemas.openxmlformats.org/drawingml/2006/main">
            <a:pPr algn="ctr">
              <a:buNone/>
            </a:pPr>
            <a:r>
              <a:rPr sz="1060">
                <a:solidFill>
                  <a:srgbClr val="2C2C2C"/>
                </a:solidFill>
                <a:latin typeface="Aptos"/>
                <a:ea typeface="Aptos"/>
                <a:cs typeface="Aptos"/>
              </a:rPr>
              <a:t>2dsphere index → proximity query → nearby receiver discovery</a:t>
            </a:r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7FED6F-4FB7-4ECA-A20F-EB42F1D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3854641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10. Latest Implementation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45BD6B6-87DC-4CE6-8C68-CA94341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3848290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Recent product, integration and presentation updates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87E98AD4-CA9A-4D49-83F2-8B089829B587}"/>
              </a:ext>
            </a:extLst>
          </p:cNvPr>
          <p:cNvGraphicFramePr/>
          <p:nvPr/>
        </p:nvGraphicFramePr>
        <p:xfrm>
          <a:off xmlns:a="http://schemas.openxmlformats.org/drawingml/2006/main" x="743429" y="1766598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implementation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Homepage &amp; design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NGO-first India homepage; warm palette, credited community photos, responsive Bootstrap 5 grid.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Role-based journeys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Next.js donor, receiver and admin flows share role-aware navigation and JWT authentication.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&amp; security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Express health/auth/listings/claims/admin/reports; JWT verification and role guards.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 discovery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GeoJSON 2dsphere + $geoNear; nearby results render in the receiver list and Leaflet map.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Pickup, ESG &amp; Figma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Scrollable pickup modal; completed weights drive 2.5× CO₂e reports; Figma screens/motion and UI defects refined.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Refined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C6BD5D-2C5A-4FF5-91EE-0C1B3F4F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345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Local demo needs MongoDB + API :5000 + web :3000; phone/LAN access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7FED6F-4FB7-4ECA-A20F-EB42F1D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4373753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11. Integration &amp; Demo Check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45BD6B6-87DC-4CE6-8C68-CA94341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6659753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Implemented pathways are in place; live end-to-end checks require the local API and database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87E98AD4-CA9A-4D49-83F2-8B089829B587}"/>
              </a:ext>
            </a:extLst>
          </p:cNvPr>
          <p:cNvGraphicFramePr/>
          <p:nvPr/>
        </p:nvGraphicFramePr>
        <p:xfrm>
          <a:off xmlns:a="http://schemas.openxmlformats.org/drawingml/2006/main" x="743429" y="1766598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Behavior covered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Donor login + Quick Add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JWT sign-in; donor-only listing creation with a pickup window.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Nearby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results appear in the list and as location-based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Claim workflow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claim checks availability and assigns an available listing atomically.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Authorized completion updates claim state and records an audit event.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Admin + ESG reports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Role-guarded admin and report routes aggregate completed pickup weight.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C6BD5D-2C5A-4FF5-91EE-0C1B3F4F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1303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Result: an end-to-end website prototype demonstrates the donor → routing → receiver → pickup → reporting lifecycle.</a:t>
            </a:r>
          </a:p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Access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Github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 repo for code :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  <a:hlinkClick xmlns:r="http://schemas.openxmlformats.org/officeDocument/2006/relationships" r:id="R8e89b12ac4234a8c"/>
              </a:rPr>
              <a:t>Hyperlink</a:t>
            </a:r>
            <a:b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</a:b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E0D59D-CD38-42DA-88FD-D98DEB23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42416"/>
            <a:ext cx="413562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12. Conclusion &amp; References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0EA925-B8F0-4B03-8163-E3CE3A95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6885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9A47008-7591-4F6B-B163-9E56EA09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7181"/>
            <a:ext cx="507492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DBB789E-AFB0-499A-BC5E-F4B12794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8621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F6F0B8-29E5-45AB-80FC-017B0514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0100"/>
            <a:ext cx="4709160" cy="1607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Makes surplus food visible before its pickup window expires.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Uses location-aware discovery to reduce coordination friction.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Provides role-based workflows for donors, receivers and admins.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Tracks claims and pickups so impact can be reported.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Creates a foundation for future alerts, optimization and scale.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44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D003530-4FE1-4EBF-8A15-EDD70E5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07181"/>
            <a:ext cx="46634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B59DE6-1316-47AE-B9A8-17402AC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1898621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CD3F33-3D02-47D0-AAF9-B8BEF3E5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64380"/>
            <a:ext cx="3844066" cy="18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Somaiya WPL Mini Project Rubrics &amp; PPT Guidelines.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Next.js Documentation — nextjs.org/docs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MongoDB Documentation — mongodb.com/docs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Mongoose Documentation — mongoosejs.com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React Leaflet — react-leaflet.js.org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Chart.js Documentation — chartjs.org/docs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UN Sustainable Development Goals — sdgs.un.org/goals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2380E1E-E5F3-4A74-98A0-E7D60B7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28789"/>
            <a:ext cx="9692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2026-10-21T20:17:26.7010000Z</dcterms:created>
  <dcterms:modified xsi:type="dcterms:W3CDTF">2026-10-21T20:17:26.7010000Z</dcterms:modified>
</coreProperties>
</file>